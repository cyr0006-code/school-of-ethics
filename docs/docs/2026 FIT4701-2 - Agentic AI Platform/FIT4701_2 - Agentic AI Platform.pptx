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Play"/>
      <p:regular r:id="rId32"/>
      <p:bold r:id="rId33"/>
    </p:embeddedFon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BM Russe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Play-bold.fntdata"/><Relationship Id="rId10" Type="http://schemas.openxmlformats.org/officeDocument/2006/relationships/slide" Target="slides/slide3.xml"/><Relationship Id="rId32" Type="http://schemas.openxmlformats.org/officeDocument/2006/relationships/font" Target="fonts/Play-regular.fntdata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5T01:01:17.916">
    <p:pos x="196" y="1129"/>
    <p:text>decision makers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5T01:10:21.833">
    <p:pos x="243" y="739"/>
    <p:text>change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9aadba1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b9aadba1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09c29d64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09c29d64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59e5f7ad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b59e5f7a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59e5f7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b59e5f7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656f180e5542cf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656f180e5542cf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a437e31a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a437e31a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f585f9b6_32_3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409f585f9b6_32_3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409f585f9b6_32_3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409d6376e17_0_17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409d6376e17_0_179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409d6376e17_0_17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09f585f9b6_32_37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409f585f9b6_32_37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409f585f9b6_32_37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409f585f9b6_3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409f585f9b6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09f585f9b6_3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09f585f9b6_3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9f585f9b6_3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409f585f9b6_3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409f585f9b6_3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409f585f9b6_3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409f585f9b6_32_20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409f585f9b6_32_20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409f585f9b6_32_20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409f585f9b6_32_30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409f585f9b6_32_30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409f585f9b6_32_30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09d6376e17_0_21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409d6376e17_0_21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409d6376e17_0_21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09d6376e17_0_29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409d6376e17_0_29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409d6376e17_0_29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59e5f7ad_14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fb59e5f7ad_14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a437e31a9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fa437e31a9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b59e5f7ad_1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fb59e5f7ad_1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h5656f180e5542c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h5656f180e5542c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5656f180e5542cf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h5656f180e5542c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409d6376e17_0_7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g409d6376e17_0_7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409d6376e17_0_7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B_MASTER">
  <p:cSld name="UB_MASTER">
    <p:bg>
      <p:bgPr>
        <a:solidFill>
          <a:srgbClr val="F8FAF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445782" y="534924"/>
            <a:ext cx="8264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14"/>
          <p:cNvSpPr/>
          <p:nvPr/>
        </p:nvSpPr>
        <p:spPr>
          <a:xfrm>
            <a:off x="7694881" y="4718304"/>
            <a:ext cx="994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723609" y="4718304"/>
            <a:ext cx="6000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2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i.org/10.1016/j.ipm.2026.10476" TargetMode="External"/><Relationship Id="rId4" Type="http://schemas.openxmlformats.org/officeDocument/2006/relationships/hyperlink" Target="https://doi.org/10.1080/2331186X.2025.2591503" TargetMode="External"/><Relationship Id="rId5" Type="http://schemas.openxmlformats.org/officeDocument/2006/relationships/hyperlink" Target="https://doi.org/10.1109/EDUCON62633.2025.11016531" TargetMode="External"/><Relationship Id="rId6" Type="http://schemas.openxmlformats.org/officeDocument/2006/relationships/hyperlink" Target="https://doi.org/10.1109/MCOM.2015.7321965" TargetMode="External"/><Relationship Id="rId7" Type="http://schemas.openxmlformats.org/officeDocument/2006/relationships/hyperlink" Target="https://doi.org/10.1145/3449287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i.org/10.1145/3581641.3584066" TargetMode="External"/><Relationship Id="rId4" Type="http://schemas.openxmlformats.org/officeDocument/2006/relationships/hyperlink" Target="https://doi.org/10.1207/S15327566IJCE0401_04" TargetMode="External"/><Relationship Id="rId5" Type="http://schemas.openxmlformats.org/officeDocument/2006/relationships/hyperlink" Target="https://doi.org/10.1016/j.ece.2022.11.004" TargetMode="External"/><Relationship Id="rId6" Type="http://schemas.openxmlformats.org/officeDocument/2006/relationships/hyperlink" Target="https://doi.org/10.1145/3772318.3791648" TargetMode="External"/><Relationship Id="rId7" Type="http://schemas.openxmlformats.org/officeDocument/2006/relationships/hyperlink" Target="https://doi.org/10.1016/j.cognition.2026.10650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oi.org/10.1016/j.chb.2024.108352" TargetMode="External"/><Relationship Id="rId4" Type="http://schemas.openxmlformats.org/officeDocument/2006/relationships/hyperlink" Target="https://news.mit.edu/2026/consequences-of-relying-on-ai-for-accurate-news-0609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ctrTitle"/>
          </p:nvPr>
        </p:nvSpPr>
        <p:spPr>
          <a:xfrm>
            <a:off x="490650" y="1127550"/>
            <a:ext cx="8162700" cy="28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22"/>
              <a:t>FIT4701/2 - Agentic AI Platform</a:t>
            </a:r>
            <a:endParaRPr sz="31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Case for an </a:t>
            </a:r>
            <a:r>
              <a:rPr lang="en-GB" sz="1800">
                <a:solidFill>
                  <a:schemeClr val="dk2"/>
                </a:solidFill>
              </a:rPr>
              <a:t>Agentic AI Platform for Engineering Ethics Education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2608800" y="4113525"/>
            <a:ext cx="392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By Aryan Cyrus &amp; Ubaid Irfan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In association with ABM Russel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ctrTitle"/>
          </p:nvPr>
        </p:nvSpPr>
        <p:spPr>
          <a:xfrm>
            <a:off x="490650" y="1127550"/>
            <a:ext cx="8162700" cy="28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22"/>
              <a:t>FIT4701/2 - Agentic AI Platform</a:t>
            </a:r>
            <a:endParaRPr sz="312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 Case for an Agentic AI Platform for Engineering Ethics Education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2608800" y="4113525"/>
            <a:ext cx="3926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By Aryan Cyrus &amp; Ubaid Irfan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In association with ABM Russel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78150" y="220950"/>
            <a:ext cx="838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Background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840875" y="5432550"/>
            <a:ext cx="83877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Surge in AI use to support technical and ethical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Risk vectors: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AI </a:t>
            </a:r>
            <a:r>
              <a:rPr lang="en-GB"/>
              <a:t>hallucination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Be </a:t>
            </a:r>
            <a:r>
              <a:rPr lang="en-GB"/>
              <a:t>confidently</a:t>
            </a:r>
            <a:r>
              <a:rPr lang="en-GB"/>
              <a:t> wrong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Absence of scrutiny undermines reasoning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How should ethic education track these </a:t>
            </a:r>
            <a:r>
              <a:rPr lang="en-GB"/>
              <a:t>multifaceted and overlapping problems?</a:t>
            </a:r>
            <a:endParaRPr/>
          </a:p>
        </p:txBody>
      </p:sp>
      <p:sp>
        <p:nvSpPr>
          <p:cNvPr id="75" name="Google Shape;75;p19"/>
          <p:cNvSpPr/>
          <p:nvPr/>
        </p:nvSpPr>
        <p:spPr>
          <a:xfrm>
            <a:off x="378150" y="1453575"/>
            <a:ext cx="3394800" cy="990600"/>
          </a:xfrm>
          <a:prstGeom prst="roundRect">
            <a:avLst>
              <a:gd fmla="val 16667" name="adj"/>
            </a:avLst>
          </a:prstGeom>
          <a:solidFill>
            <a:srgbClr val="840D35"/>
          </a:solidFill>
          <a:ln cap="flat" cmpd="sng" w="9525">
            <a:solidFill>
              <a:srgbClr val="840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Surge in AI use to support technical decisions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(Klingbeil, A. et al [11])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9"/>
          <p:cNvSpPr/>
          <p:nvPr/>
        </p:nvSpPr>
        <p:spPr>
          <a:xfrm>
            <a:off x="5609075" y="1587700"/>
            <a:ext cx="3247200" cy="7224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840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Inherent risks of potential unethical decision making and overreliance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(MIT [12])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9"/>
          <p:cNvSpPr/>
          <p:nvPr/>
        </p:nvSpPr>
        <p:spPr>
          <a:xfrm>
            <a:off x="378157" y="3599525"/>
            <a:ext cx="4971600" cy="525300"/>
          </a:xfrm>
          <a:prstGeom prst="roundRect">
            <a:avLst>
              <a:gd fmla="val 16667" name="adj"/>
            </a:avLst>
          </a:prstGeom>
          <a:solidFill>
            <a:srgbClr val="CE1755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is o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ptimal agent quantity after which gains diminish - (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Yuta Tsuchiya &amp; Yukino Baba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[9])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" name="Google Shape;78;p19"/>
          <p:cNvCxnSpPr>
            <a:stCxn id="75" idx="2"/>
            <a:endCxn id="77" idx="0"/>
          </p:cNvCxnSpPr>
          <p:nvPr/>
        </p:nvCxnSpPr>
        <p:spPr>
          <a:xfrm>
            <a:off x="2075550" y="2444175"/>
            <a:ext cx="788400" cy="115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9"/>
          <p:cNvCxnSpPr>
            <a:stCxn id="77" idx="3"/>
            <a:endCxn id="76" idx="2"/>
          </p:cNvCxnSpPr>
          <p:nvPr/>
        </p:nvCxnSpPr>
        <p:spPr>
          <a:xfrm flipH="1" rot="10800000">
            <a:off x="5349757" y="2309975"/>
            <a:ext cx="1882800" cy="155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9"/>
          <p:cNvCxnSpPr>
            <a:stCxn id="75" idx="3"/>
            <a:endCxn id="76" idx="1"/>
          </p:cNvCxnSpPr>
          <p:nvPr/>
        </p:nvCxnSpPr>
        <p:spPr>
          <a:xfrm>
            <a:off x="3772950" y="1948875"/>
            <a:ext cx="1836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311700" y="34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0"/>
          <p:cNvSpPr txBox="1"/>
          <p:nvPr>
            <p:ph idx="1" type="body"/>
          </p:nvPr>
        </p:nvSpPr>
        <p:spPr>
          <a:xfrm>
            <a:off x="840875" y="5432550"/>
            <a:ext cx="83877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Surge in AI use to support technical and ethical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Risk vectors: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AI hallucination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Be confidently wrong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Absence of scrutiny undermines reasoning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How should ethic education track these multifaceted and overlapping problems?</a:t>
            </a:r>
            <a:endParaRPr/>
          </a:p>
        </p:txBody>
      </p:sp>
      <p:sp>
        <p:nvSpPr>
          <p:cNvPr id="87" name="Google Shape;87;p20"/>
          <p:cNvSpPr/>
          <p:nvPr/>
        </p:nvSpPr>
        <p:spPr>
          <a:xfrm>
            <a:off x="3341850" y="3104475"/>
            <a:ext cx="2459700" cy="525300"/>
          </a:xfrm>
          <a:prstGeom prst="roundRect">
            <a:avLst>
              <a:gd fmla="val 50000" name="adj"/>
            </a:avLst>
          </a:prstGeom>
          <a:solidFill>
            <a:srgbClr val="C00B48"/>
          </a:solidFill>
          <a:ln cap="flat" cmpd="sng" w="9525">
            <a:solidFill>
              <a:srgbClr val="B61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overreliance is an issue?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(Klingbeil, A. et al [11])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0"/>
          <p:cNvSpPr/>
          <p:nvPr/>
        </p:nvSpPr>
        <p:spPr>
          <a:xfrm>
            <a:off x="5654600" y="4204813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hallucination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3561750" y="4204813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Bias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" name="Google Shape;90;p20"/>
          <p:cNvCxnSpPr>
            <a:stCxn id="87" idx="2"/>
            <a:endCxn id="88" idx="0"/>
          </p:cNvCxnSpPr>
          <p:nvPr/>
        </p:nvCxnSpPr>
        <p:spPr>
          <a:xfrm flipH="1" rot="-5400000">
            <a:off x="5330700" y="2870775"/>
            <a:ext cx="575100" cy="20931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1" name="Google Shape;91;p20"/>
          <p:cNvCxnSpPr>
            <a:stCxn id="87" idx="2"/>
            <a:endCxn id="89" idx="0"/>
          </p:cNvCxnSpPr>
          <p:nvPr/>
        </p:nvCxnSpPr>
        <p:spPr>
          <a:xfrm flipH="1" rot="-5400000">
            <a:off x="4284450" y="3917025"/>
            <a:ext cx="575100" cy="6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cxnSp>
        <p:nvCxnSpPr>
          <p:cNvPr id="92" name="Google Shape;92;p20"/>
          <p:cNvCxnSpPr>
            <a:stCxn id="87" idx="2"/>
            <a:endCxn id="93" idx="0"/>
          </p:cNvCxnSpPr>
          <p:nvPr/>
        </p:nvCxnSpPr>
        <p:spPr>
          <a:xfrm rot="5400000">
            <a:off x="3237900" y="2871075"/>
            <a:ext cx="575100" cy="2092500"/>
          </a:xfrm>
          <a:prstGeom prst="bentConnector3">
            <a:avLst>
              <a:gd fmla="val 49993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93" name="Google Shape;93;p20"/>
          <p:cNvSpPr/>
          <p:nvPr/>
        </p:nvSpPr>
        <p:spPr>
          <a:xfrm>
            <a:off x="1468900" y="4204800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Confident 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positives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773100" y="947700"/>
            <a:ext cx="759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 Reliance</a:t>
            </a:r>
            <a:r>
              <a:rPr lang="en-GB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 AI: The tendency to defer ethical decisions to AI without any critical thinking or self evaluation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0"/>
          <p:cNvSpPr/>
          <p:nvPr/>
        </p:nvSpPr>
        <p:spPr>
          <a:xfrm>
            <a:off x="1750650" y="1747250"/>
            <a:ext cx="5642700" cy="525300"/>
          </a:xfrm>
          <a:prstGeom prst="roundRect">
            <a:avLst>
              <a:gd fmla="val 50000" name="adj"/>
            </a:avLst>
          </a:prstGeom>
          <a:solidFill>
            <a:srgbClr val="9C0D3F"/>
          </a:solidFill>
          <a:ln cap="flat" cmpd="sng" w="9525">
            <a:solidFill>
              <a:srgbClr val="B612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These risks are inherent in an AI environment</a:t>
            </a: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educate decision makers.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20"/>
          <p:cNvCxnSpPr>
            <a:stCxn id="95" idx="2"/>
            <a:endCxn id="87" idx="0"/>
          </p:cNvCxnSpPr>
          <p:nvPr/>
        </p:nvCxnSpPr>
        <p:spPr>
          <a:xfrm flipH="1" rot="-5400000">
            <a:off x="4156350" y="2688200"/>
            <a:ext cx="831900" cy="600"/>
          </a:xfrm>
          <a:prstGeom prst="bentConnector3">
            <a:avLst>
              <a:gd fmla="val 50002" name="adj1"/>
            </a:avLst>
          </a:prstGeom>
          <a:noFill/>
          <a:ln cap="flat" cmpd="sng" w="28575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Research Gap and Topic</a:t>
            </a:r>
            <a:endParaRPr b="1"/>
          </a:p>
        </p:txBody>
      </p:sp>
      <p:cxnSp>
        <p:nvCxnSpPr>
          <p:cNvPr id="102" name="Google Shape;102;p21"/>
          <p:cNvCxnSpPr>
            <a:stCxn id="103" idx="2"/>
            <a:endCxn id="104" idx="0"/>
          </p:cNvCxnSpPr>
          <p:nvPr/>
        </p:nvCxnSpPr>
        <p:spPr>
          <a:xfrm flipH="1" rot="-5400000">
            <a:off x="4119000" y="2989925"/>
            <a:ext cx="906600" cy="600"/>
          </a:xfrm>
          <a:prstGeom prst="bentConnector3">
            <a:avLst>
              <a:gd fmla="val 49994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  <p:sp>
        <p:nvSpPr>
          <p:cNvPr id="103" name="Google Shape;103;p21"/>
          <p:cNvSpPr/>
          <p:nvPr/>
        </p:nvSpPr>
        <p:spPr>
          <a:xfrm>
            <a:off x="2039550" y="1017725"/>
            <a:ext cx="5064900" cy="15192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There is no multi-agent ethics education platform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Lack of a focus on trust, governance and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participation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AutoNum type="arabicPeriod"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Lack of transparency how Agents are disagreeing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Gaps in ethics education - </a:t>
            </a: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- Hillis et al [1]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1"/>
          <p:cNvSpPr/>
          <p:nvPr/>
        </p:nvSpPr>
        <p:spPr>
          <a:xfrm>
            <a:off x="1822050" y="3443425"/>
            <a:ext cx="5499900" cy="736200"/>
          </a:xfrm>
          <a:prstGeom prst="roundRect">
            <a:avLst>
              <a:gd fmla="val 16667" name="adj"/>
            </a:avLst>
          </a:prstGeom>
          <a:solidFill>
            <a:srgbClr val="E1165B"/>
          </a:solidFill>
          <a:ln cap="flat" cmpd="sng" w="9525">
            <a:solidFill>
              <a:srgbClr val="E1165B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case for ethics training platforms which fill this need is thus clear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" name="Google Shape;105;p21"/>
          <p:cNvCxnSpPr>
            <a:stCxn id="104" idx="2"/>
          </p:cNvCxnSpPr>
          <p:nvPr/>
        </p:nvCxnSpPr>
        <p:spPr>
          <a:xfrm flipH="1" rot="-5400000">
            <a:off x="3952500" y="4799125"/>
            <a:ext cx="1247400" cy="84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793250"/>
            <a:ext cx="8520600" cy="15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Question: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</a:rPr>
              <a:t>Does making AI-agent disagreement visible</a:t>
            </a:r>
            <a:r>
              <a:rPr b="1" lang="en-GB" sz="1400">
                <a:solidFill>
                  <a:srgbClr val="000000"/>
                </a:solidFill>
              </a:rPr>
              <a:t> (dissent visibility)</a:t>
            </a:r>
            <a:r>
              <a:rPr lang="en-GB" sz="1400">
                <a:solidFill>
                  <a:srgbClr val="000000"/>
                </a:solidFill>
              </a:rPr>
              <a:t>, as a </a:t>
            </a:r>
            <a:r>
              <a:rPr b="1" lang="en-GB" sz="1400">
                <a:solidFill>
                  <a:srgbClr val="000000"/>
                </a:solidFill>
              </a:rPr>
              <a:t>governance mechanism</a:t>
            </a:r>
            <a:r>
              <a:rPr lang="en-GB" sz="1400">
                <a:solidFill>
                  <a:srgbClr val="000000"/>
                </a:solidFill>
              </a:rPr>
              <a:t> in a </a:t>
            </a:r>
            <a:r>
              <a:rPr b="1" lang="en-GB" sz="1400">
                <a:solidFill>
                  <a:srgbClr val="000000"/>
                </a:solidFill>
              </a:rPr>
              <a:t>multi-agent</a:t>
            </a:r>
            <a:r>
              <a:rPr lang="en-GB" sz="1400">
                <a:solidFill>
                  <a:srgbClr val="000000"/>
                </a:solidFill>
              </a:rPr>
              <a:t> AI ethics-training platform, reduce decision makers</a:t>
            </a:r>
            <a:r>
              <a:rPr lang="en-GB" sz="1400">
                <a:solidFill>
                  <a:srgbClr val="000000"/>
                </a:solidFill>
              </a:rPr>
              <a:t>'</a:t>
            </a:r>
            <a:r>
              <a:rPr lang="en-GB" sz="1400">
                <a:solidFill>
                  <a:srgbClr val="000000"/>
                </a:solidFill>
              </a:rPr>
              <a:t> </a:t>
            </a:r>
            <a:r>
              <a:rPr b="1" lang="en-GB" sz="1400">
                <a:solidFill>
                  <a:srgbClr val="000000"/>
                </a:solidFill>
              </a:rPr>
              <a:t>over-reliance</a:t>
            </a:r>
            <a:r>
              <a:rPr lang="en-GB" sz="1400">
                <a:solidFill>
                  <a:srgbClr val="000000"/>
                </a:solidFill>
              </a:rPr>
              <a:t> on AI advice and improve the quality of their ethical decision-making, compared to a no-dissent-visibility condition?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22"/>
          <p:cNvCxnSpPr>
            <a:endCxn id="110" idx="0"/>
          </p:cNvCxnSpPr>
          <p:nvPr/>
        </p:nvCxnSpPr>
        <p:spPr>
          <a:xfrm rot="5400000">
            <a:off x="3666900" y="883950"/>
            <a:ext cx="1814400" cy="4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C2C2C2"/>
            </a:solidFill>
            <a:prstDash val="solid"/>
            <a:round/>
            <a:headEnd len="sm" w="sm" type="none"/>
            <a:tailEnd len="sm" w="sm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objectives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85775" y="1173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objectives: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RO1: Measure the effect of dissent visibility on </a:t>
            </a:r>
            <a:r>
              <a:rPr lang="en-GB"/>
              <a:t>decision</a:t>
            </a:r>
            <a:r>
              <a:rPr lang="en-GB"/>
              <a:t> makers</a:t>
            </a:r>
            <a:r>
              <a:rPr lang="en-GB"/>
              <a:t>'</a:t>
            </a:r>
            <a:r>
              <a:rPr lang="en-GB"/>
              <a:t> behavioural over-reliance on incorrect AI advice.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RO2: Evaluate whether dissent visibility improves the accuracy of decision makers' final ethical decisions relative to expert-validated ground truth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RO3: Examine whether the effect of dissent visibility differs between high-consensus and ambiguous/contested ethical scenarios.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RO4: Investigate whether dissent visibility affects decision makers' self-reported trust in the AI's advice, and whether that trust aligns with their actual behavioural reliance.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377200" y="240030"/>
            <a:ext cx="795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2100"/>
              <a:buFont typeface="Play"/>
              <a:buNone/>
            </a:pPr>
            <a:r>
              <a:rPr b="1" lang="en-GB" sz="2100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M</a:t>
            </a:r>
            <a:r>
              <a:rPr b="1" i="0" lang="en-GB" sz="2100" u="none" cap="none" strike="noStrike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ethodology</a:t>
            </a:r>
            <a:r>
              <a:rPr b="1" lang="en-GB" sz="2100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 and Progress so far 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4"/>
          <p:cNvCxnSpPr/>
          <p:nvPr/>
        </p:nvCxnSpPr>
        <p:spPr>
          <a:xfrm>
            <a:off x="1508800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24"/>
          <p:cNvCxnSpPr/>
          <p:nvPr/>
        </p:nvCxnSpPr>
        <p:spPr>
          <a:xfrm>
            <a:off x="2969593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24"/>
          <p:cNvCxnSpPr/>
          <p:nvPr/>
        </p:nvCxnSpPr>
        <p:spPr>
          <a:xfrm>
            <a:off x="4430386" y="1095595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" name="Google Shape;127;p24"/>
          <p:cNvCxnSpPr/>
          <p:nvPr/>
        </p:nvCxnSpPr>
        <p:spPr>
          <a:xfrm>
            <a:off x="7291417" y="1113607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24"/>
          <p:cNvCxnSpPr/>
          <p:nvPr/>
        </p:nvCxnSpPr>
        <p:spPr>
          <a:xfrm>
            <a:off x="5805384" y="1107607"/>
            <a:ext cx="260700" cy="0"/>
          </a:xfrm>
          <a:prstGeom prst="straightConnector1">
            <a:avLst/>
          </a:prstGeom>
          <a:noFill/>
          <a:ln cap="flat" cmpd="sng" w="13325">
            <a:solidFill>
              <a:srgbClr val="D8DCE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24"/>
          <p:cNvSpPr/>
          <p:nvPr/>
        </p:nvSpPr>
        <p:spPr>
          <a:xfrm>
            <a:off x="377200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5B3FF4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4"/>
          <p:cNvSpPr/>
          <p:nvPr/>
        </p:nvSpPr>
        <p:spPr>
          <a:xfrm>
            <a:off x="466356" y="887571"/>
            <a:ext cx="308700" cy="346800"/>
          </a:xfrm>
          <a:prstGeom prst="ellipse">
            <a:avLst/>
          </a:prstGeom>
          <a:solidFill>
            <a:srgbClr val="5B3FF4"/>
          </a:solidFill>
          <a:ln cap="flat" cmpd="sng" w="9525">
            <a:solidFill>
              <a:srgbClr val="5B3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466356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870989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Literature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870989" y="1080186"/>
            <a:ext cx="617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Define gap, RQ and objectives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1057103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1838000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2286D1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1927149" y="887571"/>
            <a:ext cx="308700" cy="346800"/>
          </a:xfrm>
          <a:prstGeom prst="ellipse">
            <a:avLst/>
          </a:prstGeom>
          <a:solidFill>
            <a:srgbClr val="2286D1"/>
          </a:solidFill>
          <a:ln cap="flat" cmpd="sng" w="9525">
            <a:solidFill>
              <a:srgbClr val="2286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1927149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4"/>
          <p:cNvSpPr/>
          <p:nvPr/>
        </p:nvSpPr>
        <p:spPr>
          <a:xfrm>
            <a:off x="2307357" y="883630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2307350" y="1034221"/>
            <a:ext cx="66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Student and early-career engineer contexts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4"/>
          <p:cNvSpPr/>
          <p:nvPr/>
        </p:nvSpPr>
        <p:spPr>
          <a:xfrm>
            <a:off x="2531246" y="148083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86D1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2286D1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3298775" y="733474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3387942" y="887571"/>
            <a:ext cx="308700" cy="346800"/>
          </a:xfrm>
          <a:prstGeom prst="ellipse">
            <a:avLst/>
          </a:prstGeom>
          <a:solidFill>
            <a:srgbClr val="14A098"/>
          </a:solidFill>
          <a:ln cap="flat" cmpd="sng" w="9525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3387942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3792575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3792575" y="1080213"/>
            <a:ext cx="617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FRs, NFRs, flow, system design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005389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6112713" y="751475"/>
            <a:ext cx="12630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6201873" y="905583"/>
            <a:ext cx="308700" cy="346800"/>
          </a:xfrm>
          <a:prstGeom prst="ellipse">
            <a:avLst/>
          </a:prstGeom>
          <a:solidFill>
            <a:srgbClr val="F28C28"/>
          </a:solidFill>
          <a:ln cap="flat" cmpd="sng" w="9525">
            <a:solidFill>
              <a:srgbClr val="F28C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6201873" y="986482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6570838" y="739475"/>
            <a:ext cx="8250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7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Ethics approval to conduct survey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6563013" y="1140350"/>
            <a:ext cx="728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public advert, find participants, conduct survey, gather data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4673788" y="745487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E2185B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4"/>
          <p:cNvSpPr/>
          <p:nvPr/>
        </p:nvSpPr>
        <p:spPr>
          <a:xfrm>
            <a:off x="4762941" y="899583"/>
            <a:ext cx="308700" cy="346800"/>
          </a:xfrm>
          <a:prstGeom prst="ellipse">
            <a:avLst/>
          </a:prstGeom>
          <a:solidFill>
            <a:srgbClr val="E2185B"/>
          </a:solidFill>
          <a:ln cap="flat" cmpd="sng" w="9525">
            <a:solidFill>
              <a:srgbClr val="E218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4762941" y="980482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5167575" y="891875"/>
            <a:ext cx="706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lang="en-GB" sz="900">
                <a:solidFill>
                  <a:srgbClr val="1C2942"/>
                </a:solidFill>
              </a:rPr>
              <a:t>Survey Design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5167563" y="1121261"/>
            <a:ext cx="6171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Hidden vs visible dissent condition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5351687" y="1488932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185B"/>
              </a:buClr>
              <a:buSzPts val="600"/>
              <a:buFont typeface="Arial"/>
              <a:buNone/>
            </a:pPr>
            <a:r>
              <a:rPr b="1" lang="en-GB" sz="600">
                <a:solidFill>
                  <a:srgbClr val="E2185B"/>
                </a:solidFill>
              </a:rPr>
              <a:t>In progress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81175" y="733475"/>
            <a:ext cx="1220700" cy="878100"/>
          </a:xfrm>
          <a:prstGeom prst="roundRect">
            <a:avLst>
              <a:gd fmla="val 7447" name="adj"/>
            </a:avLst>
          </a:prstGeom>
          <a:solidFill>
            <a:srgbClr val="FFFFFF"/>
          </a:solidFill>
          <a:ln cap="flat" cmpd="sng" w="14300">
            <a:solidFill>
              <a:srgbClr val="0B8F54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5715">
              <a:srgbClr val="000000">
                <a:alpha val="784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7770321" y="887571"/>
            <a:ext cx="308700" cy="346800"/>
          </a:xfrm>
          <a:prstGeom prst="ellipse">
            <a:avLst/>
          </a:prstGeom>
          <a:solidFill>
            <a:srgbClr val="0B8F54"/>
          </a:solidFill>
          <a:ln cap="flat" cmpd="sng" w="9525">
            <a:solidFill>
              <a:srgbClr val="0B8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/>
          <p:nvPr/>
        </p:nvSpPr>
        <p:spPr>
          <a:xfrm>
            <a:off x="7770321" y="968469"/>
            <a:ext cx="30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en-GB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8174954" y="879866"/>
            <a:ext cx="617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8174950" y="1080217"/>
            <a:ext cx="6171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700"/>
              <a:buFont typeface="Arial"/>
              <a:buNone/>
            </a:pPr>
            <a:r>
              <a:rPr lang="en-GB" sz="700">
                <a:solidFill>
                  <a:srgbClr val="667085"/>
                </a:solidFill>
              </a:rPr>
              <a:t>Quantitative</a:t>
            </a:r>
            <a:r>
              <a:rPr lang="en-GB" sz="700">
                <a:solidFill>
                  <a:srgbClr val="667085"/>
                </a:solidFill>
              </a:rPr>
              <a:t> and qualitative Data analysis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8367468" y="1476944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8F5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0B8F54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2475800" y="1820352"/>
            <a:ext cx="4238400" cy="3036300"/>
          </a:xfrm>
          <a:prstGeom prst="roundRect">
            <a:avLst>
              <a:gd fmla="val 3200" name="adj"/>
            </a:avLst>
          </a:prstGeom>
          <a:solidFill>
            <a:srgbClr val="F7F8FB"/>
          </a:solidFill>
          <a:ln cap="flat" cmpd="sng" w="9525">
            <a:solidFill>
              <a:srgbClr val="EDF0F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" rotWithShape="0" algn="bl" dir="2700000" dist="7620">
              <a:srgbClr val="000000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2420900" y="1827513"/>
            <a:ext cx="54900" cy="3036300"/>
          </a:xfrm>
          <a:prstGeom prst="rect">
            <a:avLst/>
          </a:prstGeom>
          <a:solidFill>
            <a:srgbClr val="14A098"/>
          </a:solidFill>
          <a:ln cap="flat" cmpd="sng" w="9525">
            <a:solidFill>
              <a:srgbClr val="14A0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2531250" y="1858352"/>
            <a:ext cx="24120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What has already been produced?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2589234" y="2764540"/>
            <a:ext cx="213600" cy="188100"/>
          </a:xfrm>
          <a:prstGeom prst="ellipse">
            <a:avLst/>
          </a:prstGeom>
          <a:solidFill>
            <a:srgbClr val="EA580C"/>
          </a:solidFill>
          <a:ln cap="flat" cmpd="sng" w="79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4"/>
          <p:cNvSpPr/>
          <p:nvPr/>
        </p:nvSpPr>
        <p:spPr>
          <a:xfrm>
            <a:off x="2865534" y="2740551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Personas</a:t>
            </a:r>
            <a:r>
              <a:rPr b="1" lang="en-GB" sz="832">
                <a:solidFill>
                  <a:srgbClr val="111827"/>
                </a:solidFill>
              </a:rPr>
              <a:t>, 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interaction flow, mockups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2867721" y="2795744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0" i="0" lang="en-GB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Student and early-career engineer personas, plus pre-, during-, and post-decision flow.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2589225" y="3178361"/>
            <a:ext cx="213600" cy="188100"/>
          </a:xfrm>
          <a:prstGeom prst="ellipse">
            <a:avLst/>
          </a:prstGeom>
          <a:solidFill>
            <a:srgbClr val="7C3AED"/>
          </a:solidFill>
          <a:ln cap="flat" cmpd="sng" w="79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2865538" y="3184200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Initial 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lang="en-GB" sz="832">
                <a:solidFill>
                  <a:srgbClr val="111827"/>
                </a:solidFill>
              </a:rPr>
              <a:t>R</a:t>
            </a: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b="1" lang="en-GB" sz="832">
                <a:solidFill>
                  <a:srgbClr val="111827"/>
                </a:solidFill>
              </a:rPr>
              <a:t>NFR list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2589225" y="3513768"/>
            <a:ext cx="213600" cy="188100"/>
          </a:xfrm>
          <a:prstGeom prst="ellipse">
            <a:avLst/>
          </a:prstGeom>
          <a:solidFill>
            <a:srgbClr val="14B8A6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2866625" y="349719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i="0" lang="en-GB" sz="832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Ethics preparation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2867713" y="3660425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b="0" i="0" lang="en-GB" sz="748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MUHREC application started with supervisor; participant-facing documents and poster being prepared.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2589225" y="2265839"/>
            <a:ext cx="213600" cy="188100"/>
          </a:xfrm>
          <a:prstGeom prst="ellipse">
            <a:avLst/>
          </a:prstGeom>
          <a:solidFill>
            <a:srgbClr val="D4145A"/>
          </a:solidFill>
          <a:ln cap="flat" cmpd="sng" w="79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4"/>
          <p:cNvSpPr/>
          <p:nvPr/>
        </p:nvSpPr>
        <p:spPr>
          <a:xfrm>
            <a:off x="2865538" y="225082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Background and literature survey (on-going)</a:t>
            </a:r>
            <a:endParaRPr b="0" i="0" sz="83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2867734" y="2394383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Reviewing existing literature to identify known problems and gaps. Research question and objectives</a:t>
            </a:r>
            <a:endParaRPr b="0" i="0" sz="74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2589213" y="3970224"/>
            <a:ext cx="213600" cy="188100"/>
          </a:xfrm>
          <a:prstGeom prst="ellipse">
            <a:avLst/>
          </a:prstGeom>
          <a:solidFill>
            <a:srgbClr val="F59E0B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2866075" y="3954328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Technical Stack</a:t>
            </a:r>
            <a:endParaRPr b="1" sz="832">
              <a:solidFill>
                <a:srgbClr val="111827"/>
              </a:solidFill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2867163" y="4117555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Vue + Tailwind frontend, Express backend, Docker, Firebase services, GitHub, Claude Sonnet model.</a:t>
            </a:r>
            <a:endParaRPr sz="748">
              <a:solidFill>
                <a:srgbClr val="1F2937"/>
              </a:solidFill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2598713" y="4427368"/>
            <a:ext cx="213600" cy="188100"/>
          </a:xfrm>
          <a:prstGeom prst="ellipse">
            <a:avLst/>
          </a:prstGeom>
          <a:solidFill>
            <a:srgbClr val="5B3FF4"/>
          </a:solidFill>
          <a:ln cap="flat" cmpd="sng" w="79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025" lIns="57025" spcFirstLastPara="1" rIns="57025" wrap="square" tIns="5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2875575" y="4411472"/>
            <a:ext cx="36717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2"/>
              <a:buFont typeface="Arial"/>
              <a:buNone/>
            </a:pPr>
            <a:r>
              <a:rPr b="1" lang="en-GB" sz="832">
                <a:solidFill>
                  <a:srgbClr val="111827"/>
                </a:solidFill>
              </a:rPr>
              <a:t>Github Repository</a:t>
            </a:r>
            <a:endParaRPr b="1" sz="832">
              <a:solidFill>
                <a:srgbClr val="111827"/>
              </a:solidFill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2867713" y="4487126"/>
            <a:ext cx="3714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748"/>
              <a:buFont typeface="Arial"/>
              <a:buNone/>
            </a:pPr>
            <a:r>
              <a:rPr lang="en-GB" sz="748">
                <a:solidFill>
                  <a:srgbClr val="1F2937"/>
                </a:solidFill>
              </a:rPr>
              <a:t>has been created and all team members have been invited.</a:t>
            </a:r>
            <a:endParaRPr sz="748">
              <a:solidFill>
                <a:srgbClr val="1F2937"/>
              </a:solidFill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6835112" y="1488932"/>
            <a:ext cx="49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185B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planned</a:t>
            </a:r>
            <a:endParaRPr b="0" i="0" sz="600" u="none" cap="none" strike="noStrike">
              <a:solidFill>
                <a:srgbClr val="F59E0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Personas: designing for two likely user contexts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25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ubaid_assets/ayesha.png"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379" t="0"/>
          <a:stretch/>
        </p:blipFill>
        <p:spPr>
          <a:xfrm>
            <a:off x="377200" y="925830"/>
            <a:ext cx="3909060" cy="22082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ubaid_assets/ryan.png" id="193" name="Google Shape;193;p25"/>
          <p:cNvPicPr preferRelativeResize="0"/>
          <p:nvPr/>
        </p:nvPicPr>
        <p:blipFill rotWithShape="1">
          <a:blip r:embed="rId4">
            <a:alphaModFix/>
          </a:blip>
          <a:srcRect b="0" l="0" r="1215" t="0"/>
          <a:stretch/>
        </p:blipFill>
        <p:spPr>
          <a:xfrm>
            <a:off x="4572000" y="946400"/>
            <a:ext cx="4411800" cy="22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/>
          <p:nvPr/>
        </p:nvSpPr>
        <p:spPr>
          <a:xfrm>
            <a:off x="514364" y="3326130"/>
            <a:ext cx="3566400" cy="754500"/>
          </a:xfrm>
          <a:prstGeom prst="roundRect">
            <a:avLst>
              <a:gd fmla="val 7273" name="adj"/>
            </a:avLst>
          </a:prstGeom>
          <a:solidFill>
            <a:srgbClr val="FFF1F2"/>
          </a:solidFill>
          <a:ln cap="flat" cmpd="sng" w="9525">
            <a:solidFill>
              <a:srgbClr val="FBC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651524" y="3463300"/>
            <a:ext cx="2561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Ayesha - engineering student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651527" y="3703320"/>
            <a:ext cx="3257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Needs practice making an initial ethical judgement, then comparing it with specialist AI advice without simply accepting the answer.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5"/>
          <p:cNvSpPr/>
          <p:nvPr/>
        </p:nvSpPr>
        <p:spPr>
          <a:xfrm>
            <a:off x="4903601" y="3326130"/>
            <a:ext cx="3566400" cy="754500"/>
          </a:xfrm>
          <a:prstGeom prst="roundRect">
            <a:avLst>
              <a:gd fmla="val 7273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5040764" y="3463290"/>
            <a:ext cx="20574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Ryan - early-career engineer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5040764" y="3703320"/>
            <a:ext cx="32577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Faces time pressure, business constraints, and responsibility for decisions; the design must support scrutiny rather than fast AI compliance.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754400" y="4423410"/>
            <a:ext cx="7612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 implication: the prototype needs to work for both learning and workplace-style judgement under pressure.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377200" y="288036"/>
            <a:ext cx="3291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Play"/>
              <a:buNone/>
            </a:pPr>
            <a:r>
              <a:rPr b="1" i="0" lang="en-GB" sz="23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Survey design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265446" y="1134991"/>
            <a:ext cx="219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Play"/>
              <a:buNone/>
            </a:pPr>
            <a:r>
              <a:rPr b="1" i="0" lang="en-GB" sz="15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Participants will: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265446" y="1423027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416326" y="1519039"/>
            <a:ext cx="246900" cy="246900"/>
          </a:xfrm>
          <a:prstGeom prst="ellipse">
            <a:avLst/>
          </a:prstGeom>
          <a:solidFill>
            <a:srgbClr val="5B3FF2"/>
          </a:solidFill>
          <a:ln cap="flat" cmpd="sng" w="9525">
            <a:solidFill>
              <a:srgbClr val="5B3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416326" y="1563616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/>
          <p:nvPr/>
        </p:nvSpPr>
        <p:spPr>
          <a:xfrm>
            <a:off x="800384" y="1539613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Read one scenario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265446" y="1957951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/>
          <p:nvPr/>
        </p:nvSpPr>
        <p:spPr>
          <a:xfrm>
            <a:off x="416326" y="2053963"/>
            <a:ext cx="246900" cy="246900"/>
          </a:xfrm>
          <a:prstGeom prst="ellipse">
            <a:avLst/>
          </a:prstGeom>
          <a:solidFill>
            <a:srgbClr val="0EA5A4"/>
          </a:solidFill>
          <a:ln cap="flat" cmpd="sng" w="9525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416326" y="2098540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800384" y="2074537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i="0" lang="en-GB" sz="1200" u="none" cap="none" strike="noStrike">
                <a:solidFill>
                  <a:srgbClr val="5F6B7A"/>
                </a:solidFill>
              </a:rPr>
              <a:t>Make an initial decision </a:t>
            </a:r>
            <a:r>
              <a:rPr b="1" i="0" lang="en-GB" sz="1200" u="none" cap="none" strike="noStrike">
                <a:solidFill>
                  <a:srgbClr val="5F6B7A"/>
                </a:solidFill>
              </a:rPr>
              <a:t>without </a:t>
            </a:r>
            <a:r>
              <a:rPr i="0" lang="en-GB" sz="1200" u="none" cap="none" strike="noStrike">
                <a:solidFill>
                  <a:srgbClr val="5F6B7A"/>
                </a:solidFill>
              </a:rPr>
              <a:t>recommendation from multi-agent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265446" y="2492875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416326" y="2588887"/>
            <a:ext cx="246900" cy="2469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416326" y="2633464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800384" y="2609461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Review AI generated decision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265446" y="3027799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416326" y="3123811"/>
            <a:ext cx="246900" cy="246900"/>
          </a:xfrm>
          <a:prstGeom prst="ellipse">
            <a:avLst/>
          </a:prstGeom>
          <a:solidFill>
            <a:srgbClr val="5B3FF2"/>
          </a:solidFill>
          <a:ln cap="flat" cmpd="sng" w="9525">
            <a:solidFill>
              <a:srgbClr val="5B3F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416326" y="3168388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6"/>
          <p:cNvSpPr/>
          <p:nvPr/>
        </p:nvSpPr>
        <p:spPr>
          <a:xfrm>
            <a:off x="800384" y="3144385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5F6B7A"/>
                </a:solidFill>
              </a:rPr>
              <a:t>A</a:t>
            </a: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sk user if they wish to change their decision after seeing AI </a:t>
            </a:r>
            <a:r>
              <a:rPr lang="en-GB" sz="1200">
                <a:solidFill>
                  <a:srgbClr val="5F6B7A"/>
                </a:solidFill>
              </a:rPr>
              <a:t>recommendations.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265446" y="3562723"/>
            <a:ext cx="4149000" cy="445800"/>
          </a:xfrm>
          <a:prstGeom prst="roundRect">
            <a:avLst>
              <a:gd fmla="val 7692" name="adj"/>
            </a:avLst>
          </a:prstGeom>
          <a:solidFill>
            <a:srgbClr val="F6F8FC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416326" y="3658735"/>
            <a:ext cx="246900" cy="246900"/>
          </a:xfrm>
          <a:prstGeom prst="ellipse">
            <a:avLst/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416326" y="3703312"/>
            <a:ext cx="2469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800384" y="3679309"/>
            <a:ext cx="34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View accuracy of their decision using traffic-light feedback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5361458" y="1258374"/>
            <a:ext cx="3566400" cy="2914800"/>
          </a:xfrm>
          <a:prstGeom prst="roundRect">
            <a:avLst>
              <a:gd fmla="val 1412" name="adj"/>
            </a:avLst>
          </a:prstGeom>
          <a:solidFill>
            <a:srgbClr val="FFFFFF"/>
          </a:solidFill>
          <a:ln cap="flat" cmpd="sng" w="114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D9DEE9">
                <a:alpha val="160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5567203" y="1443540"/>
            <a:ext cx="31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Play"/>
              <a:buNone/>
            </a:pPr>
            <a:r>
              <a:rPr b="1" i="0" lang="en-GB" sz="13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AI-generated recommendation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5567203" y="1697286"/>
            <a:ext cx="305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Participants are assigned to one of two study conditions.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567203" y="2026470"/>
            <a:ext cx="3189000" cy="720000"/>
          </a:xfrm>
          <a:prstGeom prst="roundRect">
            <a:avLst>
              <a:gd fmla="val 476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5772949" y="2149914"/>
            <a:ext cx="15090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Hidden condition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772949" y="2348796"/>
            <a:ext cx="26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Do not show AI advisory panel; show only the AI-generated recommendation.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5567203" y="2972874"/>
            <a:ext cx="3189000" cy="720000"/>
          </a:xfrm>
          <a:prstGeom prst="roundRect">
            <a:avLst>
              <a:gd fmla="val 4762" name="adj"/>
            </a:avLst>
          </a:prstGeom>
          <a:solidFill>
            <a:srgbClr val="EEEAFE"/>
          </a:solidFill>
          <a:ln cap="flat" cmpd="sng" w="9525">
            <a:solidFill>
              <a:srgbClr val="D6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5772949" y="3096318"/>
            <a:ext cx="1714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Transparent condition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772949" y="3295200"/>
            <a:ext cx="2640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Show the AI advisory panel, including each agent’s recommendation and any dissent.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6"/>
          <p:cNvCxnSpPr>
            <a:stCxn id="216" idx="3"/>
            <a:endCxn id="228" idx="1"/>
          </p:cNvCxnSpPr>
          <p:nvPr/>
        </p:nvCxnSpPr>
        <p:spPr>
          <a:xfrm>
            <a:off x="4414446" y="2715775"/>
            <a:ext cx="947100" cy="0"/>
          </a:xfrm>
          <a:prstGeom prst="straightConnector1">
            <a:avLst/>
          </a:prstGeom>
          <a:noFill/>
          <a:ln cap="flat" cmpd="sng" w="76200">
            <a:solidFill>
              <a:srgbClr val="F59E0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6"/>
          <p:cNvSpPr/>
          <p:nvPr/>
        </p:nvSpPr>
        <p:spPr>
          <a:xfrm>
            <a:off x="4337025" y="2629979"/>
            <a:ext cx="168900" cy="1716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5261075" y="2629979"/>
            <a:ext cx="168900" cy="171600"/>
          </a:xfrm>
          <a:prstGeom prst="ellipse">
            <a:avLst/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37" y="804700"/>
            <a:ext cx="8191126" cy="4091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Study Information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25" y="675975"/>
            <a:ext cx="8353551" cy="41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Scenario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00" y="687099"/>
            <a:ext cx="8238601" cy="4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9"/>
          <p:cNvSpPr txBox="1"/>
          <p:nvPr/>
        </p:nvSpPr>
        <p:spPr>
          <a:xfrm>
            <a:off x="216275" y="123975"/>
            <a:ext cx="603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AI Advice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63" y="703149"/>
            <a:ext cx="8298875" cy="41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216275" y="123975"/>
            <a:ext cx="8043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Preliminary Mockup - Final Response/Feedback/Summary Screen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377200" y="240030"/>
            <a:ext cx="795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2100"/>
              <a:buFont typeface="Play"/>
              <a:buNone/>
            </a:pPr>
            <a:r>
              <a:rPr b="1" i="0" lang="en-GB" sz="2100" u="none" cap="none" strike="noStrike">
                <a:solidFill>
                  <a:srgbClr val="1C2942"/>
                </a:solidFill>
                <a:latin typeface="Play"/>
                <a:ea typeface="Play"/>
                <a:cs typeface="Play"/>
                <a:sym typeface="Play"/>
              </a:rPr>
              <a:t>Core requirements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397775" y="603504"/>
            <a:ext cx="774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Requirements focus on measuring dissent visibility, over-reliance, decision quality and trust.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480073" y="877824"/>
            <a:ext cx="370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4800728" y="877824"/>
            <a:ext cx="3703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942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1C2942"/>
                </a:solidFill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480073" y="121386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569229" y="129616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1028727" y="128587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Present engineering ethics scenario and consent flow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480073" y="1639062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1"/>
          <p:cNvSpPr/>
          <p:nvPr/>
        </p:nvSpPr>
        <p:spPr>
          <a:xfrm>
            <a:off x="569229" y="1721358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1028727" y="1711071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Capture initial decision before AI advice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480073" y="206425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"/>
          <p:cNvSpPr/>
          <p:nvPr/>
        </p:nvSpPr>
        <p:spPr>
          <a:xfrm>
            <a:off x="569229" y="214655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1028727" y="213626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Assign hidden or visible dissent condition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480073" y="248945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569229" y="257175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1028727" y="256146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Deliver fixed, specialised multi-agent advice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480101" y="333993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1"/>
          <p:cNvSpPr/>
          <p:nvPr/>
        </p:nvSpPr>
        <p:spPr>
          <a:xfrm>
            <a:off x="569257" y="342223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1028756" y="3411946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Capture final decision, revision, reasoning and trust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480101" y="376513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/>
          <p:nvPr/>
        </p:nvSpPr>
        <p:spPr>
          <a:xfrm>
            <a:off x="569257" y="384743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1028756" y="383714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Export de-identified </a:t>
            </a:r>
            <a:r>
              <a:rPr lang="en-GB" sz="800">
                <a:solidFill>
                  <a:srgbClr val="111827"/>
                </a:solidFill>
              </a:rPr>
              <a:t>study data</a:t>
            </a: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for analysis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4800728" y="121386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1"/>
          <p:cNvSpPr/>
          <p:nvPr/>
        </p:nvSpPr>
        <p:spPr>
          <a:xfrm>
            <a:off x="4889884" y="129616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5349383" y="128587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Experimental consistency across conditions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800728" y="1639062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4889884" y="1721358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5349383" y="1711071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Auditability and reproducibility of each response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4800728" y="206425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4889884" y="214655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5349383" y="213626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Privacy, security and de-identification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4800728" y="2489454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4889884" y="2571750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349383" y="2561463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Reliability of logs and survey capture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4800728" y="2914650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AFBFF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1"/>
          <p:cNvSpPr/>
          <p:nvPr/>
        </p:nvSpPr>
        <p:spPr>
          <a:xfrm>
            <a:off x="4889884" y="2996946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5349383" y="2986659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Accessibility and usability parity across conditions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4800728" y="3339846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1"/>
          <p:cNvSpPr/>
          <p:nvPr/>
        </p:nvSpPr>
        <p:spPr>
          <a:xfrm>
            <a:off x="4889884" y="3422142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5349383" y="3411855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Maintainable implementation for FYP 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480101" y="2914648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569257" y="2996944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FF4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5B3FF4"/>
                </a:solidFill>
                <a:latin typeface="Arial"/>
                <a:ea typeface="Arial"/>
                <a:cs typeface="Arial"/>
                <a:sym typeface="Arial"/>
              </a:rPr>
              <a:t>FR</a:t>
            </a:r>
            <a:r>
              <a:rPr b="1" lang="en-GB" sz="600">
                <a:solidFill>
                  <a:srgbClr val="5B3FF4"/>
                </a:solidFill>
              </a:rPr>
              <a:t>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1028756" y="2986657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11827"/>
                </a:solidFill>
              </a:rPr>
              <a:t>Maintain expert-validated scenario ground truth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4800747" y="3765040"/>
            <a:ext cx="3874800" cy="308700"/>
          </a:xfrm>
          <a:prstGeom prst="roundRect">
            <a:avLst>
              <a:gd fmla="val 8889" name="adj"/>
            </a:avLst>
          </a:prstGeom>
          <a:solidFill>
            <a:srgbClr val="F7F8FB"/>
          </a:solidFill>
          <a:ln cap="flat" cmpd="sng" w="9525">
            <a:solidFill>
              <a:srgbClr val="E9E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1"/>
          <p:cNvSpPr/>
          <p:nvPr/>
        </p:nvSpPr>
        <p:spPr>
          <a:xfrm>
            <a:off x="4889903" y="3847336"/>
            <a:ext cx="377100" cy="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98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14A098"/>
                </a:solidFill>
                <a:latin typeface="Arial"/>
                <a:ea typeface="Arial"/>
                <a:cs typeface="Arial"/>
                <a:sym typeface="Arial"/>
              </a:rPr>
              <a:t>NFR</a:t>
            </a:r>
            <a:r>
              <a:rPr b="1" lang="en-GB" sz="600">
                <a:solidFill>
                  <a:srgbClr val="14A098"/>
                </a:solidFill>
              </a:rPr>
              <a:t>7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5349401" y="3837049"/>
            <a:ext cx="3154800" cy="1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11827"/>
                </a:solidFill>
              </a:rPr>
              <a:t>AI response consistency and controllability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/>
          <p:nvPr/>
        </p:nvSpPr>
        <p:spPr>
          <a:xfrm>
            <a:off x="356626" y="493776"/>
            <a:ext cx="809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600"/>
              <a:buFont typeface="Play"/>
              <a:buNone/>
            </a:pPr>
            <a:r>
              <a:rPr b="1" i="0" lang="en-GB" sz="26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How AI is used in this project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527425" y="1426475"/>
            <a:ext cx="2729400" cy="2970900"/>
          </a:xfrm>
          <a:prstGeom prst="roundRect">
            <a:avLst>
              <a:gd fmla="val 2528" name="adj"/>
            </a:avLst>
          </a:prstGeom>
          <a:solidFill>
            <a:srgbClr val="FFFFFF"/>
          </a:solidFill>
          <a:ln cap="flat" cmpd="sng" w="9525">
            <a:solidFill>
              <a:srgbClr val="DDE4F0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9AA8BD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1760612" y="1645920"/>
            <a:ext cx="562200" cy="562200"/>
          </a:xfrm>
          <a:prstGeom prst="roundRect">
            <a:avLst>
              <a:gd fmla="val 16667" name="adj"/>
            </a:avLst>
          </a:prstGeom>
          <a:solidFill>
            <a:srgbClr val="F2EEFF"/>
          </a:solidFill>
          <a:ln cap="flat" cmpd="sng" w="9525">
            <a:solidFill>
              <a:srgbClr val="F2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1760612" y="1680210"/>
            <a:ext cx="56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236FF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6236FF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1760612" y="2414016"/>
            <a:ext cx="22632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Research prototype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1760612" y="3127248"/>
            <a:ext cx="22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LLMs power the specialised AI advisor agents. AI-generated advice is the intervention being evaluated in the study.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4717000" y="1426475"/>
            <a:ext cx="2729400" cy="2970900"/>
          </a:xfrm>
          <a:prstGeom prst="roundRect">
            <a:avLst>
              <a:gd fmla="val 2528" name="adj"/>
            </a:avLst>
          </a:prstGeom>
          <a:solidFill>
            <a:srgbClr val="FFFFFF"/>
          </a:solidFill>
          <a:ln cap="flat" cmpd="sng" w="9525">
            <a:solidFill>
              <a:srgbClr val="DDE4F0"/>
            </a:solidFill>
            <a:prstDash val="solid"/>
            <a:round/>
            <a:headEnd len="sm" w="sm" type="none"/>
            <a:tailEnd len="sm" w="sm" type="none"/>
          </a:ln>
          <a:effectLst>
            <a:outerShdw blurRad="9525" rotWithShape="0" algn="bl" dir="2700000" dist="38101">
              <a:srgbClr val="9AA8BD">
                <a:alpha val="102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2"/>
          <p:cNvSpPr/>
          <p:nvPr/>
        </p:nvSpPr>
        <p:spPr>
          <a:xfrm>
            <a:off x="4950175" y="1645920"/>
            <a:ext cx="562200" cy="562200"/>
          </a:xfrm>
          <a:prstGeom prst="roundRect">
            <a:avLst>
              <a:gd fmla="val 16667" name="adj"/>
            </a:avLst>
          </a:prstGeom>
          <a:solidFill>
            <a:srgbClr val="F2EEFF"/>
          </a:solidFill>
          <a:ln cap="flat" cmpd="sng" w="9525">
            <a:solidFill>
              <a:srgbClr val="F2EE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4950175" y="1680210"/>
            <a:ext cx="562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236FF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6236FF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4950175" y="2414016"/>
            <a:ext cx="22632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Development and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Play"/>
              <a:buNone/>
            </a:pPr>
            <a:r>
              <a:rPr b="1" i="0" lang="en-GB" sz="1800" u="none" cap="none" strike="noStrike">
                <a:solidFill>
                  <a:srgbClr val="14213D"/>
                </a:solidFill>
                <a:latin typeface="Play"/>
                <a:ea typeface="Play"/>
                <a:cs typeface="Play"/>
                <a:sym typeface="Play"/>
              </a:rPr>
              <a:t>research support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4950175" y="3127248"/>
            <a:ext cx="22632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657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596579"/>
                </a:solidFill>
                <a:latin typeface="Arial"/>
                <a:ea typeface="Arial"/>
                <a:cs typeface="Arial"/>
                <a:sym typeface="Arial"/>
              </a:rPr>
              <a:t>AI tools may assist with coding, prototyping and research support. All outputs are reviewed by the team before use.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Timeline: path to Week 12 and 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May</a:t>
            </a: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 2027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33"/>
          <p:cNvCxnSpPr/>
          <p:nvPr/>
        </p:nvCxnSpPr>
        <p:spPr>
          <a:xfrm>
            <a:off x="371359" y="726035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33"/>
          <p:cNvSpPr/>
          <p:nvPr/>
        </p:nvSpPr>
        <p:spPr>
          <a:xfrm>
            <a:off x="2777564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33"/>
          <p:cNvCxnSpPr/>
          <p:nvPr/>
        </p:nvCxnSpPr>
        <p:spPr>
          <a:xfrm>
            <a:off x="2777564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33"/>
          <p:cNvSpPr/>
          <p:nvPr/>
        </p:nvSpPr>
        <p:spPr>
          <a:xfrm>
            <a:off x="3429091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33"/>
          <p:cNvCxnSpPr/>
          <p:nvPr/>
        </p:nvCxnSpPr>
        <p:spPr>
          <a:xfrm>
            <a:off x="3429091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33"/>
          <p:cNvSpPr/>
          <p:nvPr/>
        </p:nvSpPr>
        <p:spPr>
          <a:xfrm>
            <a:off x="4080619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33"/>
          <p:cNvCxnSpPr/>
          <p:nvPr/>
        </p:nvCxnSpPr>
        <p:spPr>
          <a:xfrm>
            <a:off x="4080619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33"/>
          <p:cNvSpPr/>
          <p:nvPr/>
        </p:nvSpPr>
        <p:spPr>
          <a:xfrm>
            <a:off x="4732146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Dec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32146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33"/>
          <p:cNvSpPr/>
          <p:nvPr/>
        </p:nvSpPr>
        <p:spPr>
          <a:xfrm>
            <a:off x="5383674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Jan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33"/>
          <p:cNvCxnSpPr/>
          <p:nvPr/>
        </p:nvCxnSpPr>
        <p:spPr>
          <a:xfrm>
            <a:off x="5383674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33"/>
          <p:cNvSpPr/>
          <p:nvPr/>
        </p:nvSpPr>
        <p:spPr>
          <a:xfrm>
            <a:off x="6035201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3"/>
          <p:cNvCxnSpPr/>
          <p:nvPr/>
        </p:nvCxnSpPr>
        <p:spPr>
          <a:xfrm>
            <a:off x="6035201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33"/>
          <p:cNvSpPr/>
          <p:nvPr/>
        </p:nvSpPr>
        <p:spPr>
          <a:xfrm>
            <a:off x="6686728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33"/>
          <p:cNvCxnSpPr/>
          <p:nvPr/>
        </p:nvCxnSpPr>
        <p:spPr>
          <a:xfrm>
            <a:off x="6686728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33"/>
          <p:cNvSpPr/>
          <p:nvPr/>
        </p:nvSpPr>
        <p:spPr>
          <a:xfrm>
            <a:off x="7338256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Apr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33"/>
          <p:cNvCxnSpPr/>
          <p:nvPr/>
        </p:nvCxnSpPr>
        <p:spPr>
          <a:xfrm>
            <a:off x="7338256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33"/>
          <p:cNvSpPr/>
          <p:nvPr/>
        </p:nvSpPr>
        <p:spPr>
          <a:xfrm>
            <a:off x="7989783" y="754380"/>
            <a:ext cx="6171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3"/>
          <p:cNvCxnSpPr/>
          <p:nvPr/>
        </p:nvCxnSpPr>
        <p:spPr>
          <a:xfrm>
            <a:off x="7989783" y="980694"/>
            <a:ext cx="0" cy="3257700"/>
          </a:xfrm>
          <a:prstGeom prst="straightConnector1">
            <a:avLst/>
          </a:prstGeom>
          <a:noFill/>
          <a:ln cap="flat" cmpd="sng" w="76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33"/>
          <p:cNvSpPr/>
          <p:nvPr/>
        </p:nvSpPr>
        <p:spPr>
          <a:xfrm>
            <a:off x="377200" y="1117854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R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efine RQ, study design, Week 8 presentation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2777564" y="1097280"/>
            <a:ext cx="879600" cy="219300"/>
          </a:xfrm>
          <a:prstGeom prst="roundRect">
            <a:avLst>
              <a:gd fmla="val 25000" name="adj"/>
            </a:avLst>
          </a:prstGeom>
          <a:solidFill>
            <a:srgbClr val="D4145A"/>
          </a:solidFill>
          <a:ln cap="flat" cmpd="sng" w="9525">
            <a:solidFill>
              <a:srgbClr val="D41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377200" y="1543050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Prototype </a:t>
            </a:r>
            <a:r>
              <a:rPr lang="en-GB" sz="800">
                <a:solidFill>
                  <a:srgbClr val="1F2937"/>
                </a:solidFill>
              </a:rPr>
              <a:t>development 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+ core participant flow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3168478" y="1522481"/>
            <a:ext cx="1433400" cy="219300"/>
          </a:xfrm>
          <a:prstGeom prst="roundRect">
            <a:avLst>
              <a:gd fmla="val 25000" name="adj"/>
            </a:avLst>
          </a:prstGeom>
          <a:solidFill>
            <a:srgbClr val="7C3AED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/>
          <p:nvPr/>
        </p:nvSpPr>
        <p:spPr>
          <a:xfrm>
            <a:off x="377200" y="1968246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Scenario bank, agent prompts, </a:t>
            </a:r>
            <a:r>
              <a:rPr lang="en-GB" sz="800">
                <a:solidFill>
                  <a:srgbClr val="1F2937"/>
                </a:solidFill>
              </a:rPr>
              <a:t>experimental logic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3657135" y="1947675"/>
            <a:ext cx="1109400" cy="2193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377200" y="2393442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MUHREC documents, recruitment materials, approval pathway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3168478" y="2372869"/>
            <a:ext cx="1694100" cy="219300"/>
          </a:xfrm>
          <a:prstGeom prst="roundRect">
            <a:avLst>
              <a:gd fmla="val 25000" name="adj"/>
            </a:avLst>
          </a:prstGeom>
          <a:solidFill>
            <a:srgbClr val="14B8A6"/>
          </a:solidFill>
          <a:ln cap="flat" cmpd="sng" w="95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377200" y="2818638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Pilot testing, v</a:t>
            </a:r>
            <a:r>
              <a:rPr lang="en-GB" sz="800">
                <a:solidFill>
                  <a:srgbClr val="1F2937"/>
                </a:solidFill>
              </a:rPr>
              <a:t>alidation,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and revisions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927613" y="2798063"/>
            <a:ext cx="1945500" cy="219300"/>
          </a:xfrm>
          <a:prstGeom prst="roundRect">
            <a:avLst>
              <a:gd fmla="val 25000" name="adj"/>
            </a:avLst>
          </a:prstGeom>
          <a:solidFill>
            <a:srgbClr val="F59E0B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377200" y="3243834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Participant </a:t>
            </a: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collection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6873247" y="3223213"/>
            <a:ext cx="781800" cy="219300"/>
          </a:xfrm>
          <a:prstGeom prst="roundRect">
            <a:avLst>
              <a:gd fmla="val 25000" name="adj"/>
            </a:avLst>
          </a:prstGeom>
          <a:solidFill>
            <a:srgbClr val="16A34A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377200" y="3669030"/>
            <a:ext cx="20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Analysis, final paper, demo, presentation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7655135" y="3641644"/>
            <a:ext cx="951900" cy="219300"/>
          </a:xfrm>
          <a:prstGeom prst="roundRect">
            <a:avLst>
              <a:gd fmla="val 25000" name="adj"/>
            </a:avLst>
          </a:prstGeom>
          <a:solidFill>
            <a:srgbClr val="9C0D3F"/>
          </a:solidFill>
          <a:ln cap="flat" cmpd="sng" w="9525">
            <a:solidFill>
              <a:srgbClr val="9C0D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433082" y="4533195"/>
            <a:ext cx="3943500" cy="425100"/>
          </a:xfrm>
          <a:prstGeom prst="roundRect">
            <a:avLst>
              <a:gd fmla="val 12903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604536" y="4677213"/>
            <a:ext cx="35664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Week 12 checkpoint: 4-page initial paper with literature, design, preliminary progress and planned results.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4766437" y="4493070"/>
            <a:ext cx="3840600" cy="425100"/>
          </a:xfrm>
          <a:prstGeom prst="roundRect">
            <a:avLst>
              <a:gd fmla="val 12903" name="adj"/>
            </a:avLst>
          </a:prstGeom>
          <a:solidFill>
            <a:srgbClr val="F9FA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4937892" y="4637088"/>
            <a:ext cx="3497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End target: functioning study prototype, analysed participant data, FYP B final paper and demo.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295150" y="4029563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rgbClr val="1F2937"/>
                </a:solidFill>
              </a:rPr>
              <a:t>Lit review (ongoing)</a:t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2771275" y="4067363"/>
            <a:ext cx="5841900" cy="219300"/>
          </a:xfrm>
          <a:prstGeom prst="roundRect">
            <a:avLst>
              <a:gd fmla="val 25000" name="adj"/>
            </a:avLst>
          </a:prstGeom>
          <a:solidFill>
            <a:srgbClr val="CC0000"/>
          </a:solidFill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Major risks and mitigation strategies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34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3" name="Google Shape;383;p34"/>
          <p:cNvSpPr/>
          <p:nvPr/>
        </p:nvSpPr>
        <p:spPr>
          <a:xfrm>
            <a:off x="514364" y="994410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4"/>
          <p:cNvSpPr/>
          <p:nvPr/>
        </p:nvSpPr>
        <p:spPr>
          <a:xfrm>
            <a:off x="651527" y="1104138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4"/>
          <p:cNvSpPr/>
          <p:nvPr/>
        </p:nvSpPr>
        <p:spPr>
          <a:xfrm>
            <a:off x="733826" y="1152144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1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1268764" y="1097280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Ethics / recruitment delay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665244" y="1351026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Start MUHREC early; prepare advert, explanatory statement, consent form and eligibility criteria now.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514364" y="2009394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4"/>
          <p:cNvSpPr/>
          <p:nvPr/>
        </p:nvSpPr>
        <p:spPr>
          <a:xfrm>
            <a:off x="651527" y="2119122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4"/>
          <p:cNvSpPr/>
          <p:nvPr/>
        </p:nvSpPr>
        <p:spPr>
          <a:xfrm>
            <a:off x="733826" y="2167128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2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1268764" y="2112264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output inconsistency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665244" y="2366010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controlled prompts, fixed scenarios, logging, and where necessary pre-generated agent outputs for comparability.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514364" y="3024378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/>
          <p:nvPr/>
        </p:nvSpPr>
        <p:spPr>
          <a:xfrm>
            <a:off x="651527" y="3134106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4"/>
          <p:cNvSpPr/>
          <p:nvPr/>
        </p:nvSpPr>
        <p:spPr>
          <a:xfrm>
            <a:off x="733826" y="3182112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3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1268764" y="3127248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Weak ground truth or scoring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665244" y="3380994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expert-validated answers; define reliability as agreement with expert ground truth; keep scenario-specific weights justified.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4766437" y="994410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4903601" y="1104138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/>
          <p:nvPr/>
        </p:nvSpPr>
        <p:spPr>
          <a:xfrm>
            <a:off x="4985899" y="1152144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4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5520837" y="1097280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111827"/>
                </a:solidFill>
              </a:rPr>
              <a:t>Experimental Contamination</a:t>
            </a:r>
            <a:endParaRPr b="1" sz="1000">
              <a:solidFill>
                <a:srgbClr val="111827"/>
              </a:solidFill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917317" y="1351026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Keep conditions identical except for dissent visibility; hide expert weights/reliability scores; maintain usability parity across conditions.</a:t>
            </a:r>
            <a:endParaRPr sz="800">
              <a:solidFill>
                <a:srgbClr val="1F2937"/>
              </a:solidFill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4766437" y="2009394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4"/>
          <p:cNvSpPr/>
          <p:nvPr/>
        </p:nvSpPr>
        <p:spPr>
          <a:xfrm>
            <a:off x="4903601" y="2119122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D4145A"/>
          </a:solidFill>
          <a:ln cap="flat" cmpd="sng" w="9525">
            <a:solidFill>
              <a:srgbClr val="D414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"/>
          <p:cNvSpPr/>
          <p:nvPr/>
        </p:nvSpPr>
        <p:spPr>
          <a:xfrm>
            <a:off x="4985899" y="2167128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5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5520837" y="2112264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privacy and participant trust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4917317" y="2366010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Collect minimum necessary data, de-identify exports, restrict access, and explain AI/tool use in ethics documents.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4766437" y="3024378"/>
            <a:ext cx="3806100" cy="72000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4"/>
          <p:cNvSpPr/>
          <p:nvPr/>
        </p:nvSpPr>
        <p:spPr>
          <a:xfrm>
            <a:off x="4903601" y="3134106"/>
            <a:ext cx="534900" cy="233100"/>
          </a:xfrm>
          <a:prstGeom prst="roundRect">
            <a:avLst>
              <a:gd fmla="val 35294" name="adj"/>
            </a:avLst>
          </a:prstGeom>
          <a:solidFill>
            <a:srgbClr val="2563EB"/>
          </a:solidFill>
          <a:ln cap="flat" cmpd="sng" w="9525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4"/>
          <p:cNvSpPr/>
          <p:nvPr/>
        </p:nvSpPr>
        <p:spPr>
          <a:xfrm>
            <a:off x="4985899" y="3182112"/>
            <a:ext cx="370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1" i="0" lang="en-GB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6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5520837" y="3127248"/>
            <a:ext cx="2811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1" lang="en-GB" sz="1000">
                <a:solidFill>
                  <a:srgbClr val="111827"/>
                </a:solidFill>
              </a:rPr>
              <a:t>Scope creep in prototype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4917317" y="3380994"/>
            <a:ext cx="346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GB" sz="800">
                <a:solidFill>
                  <a:srgbClr val="1F2937"/>
                </a:solidFill>
              </a:rPr>
              <a:t>Limit MVP to study info, scenario, initial decision, AI advice, final response, trust survey, logs and export.</a:t>
            </a:r>
            <a:endParaRPr sz="80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Feedback delivery 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300750" y="1778000"/>
            <a:ext cx="8542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Alignment with expert consensus (high-consensus scenarios only):</a:t>
            </a:r>
            <a:r>
              <a:rPr lang="en-GB"/>
              <a:t> "X of Y decisions matched the expert-validated answer".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How the ambiguous scenarios went (contested scenarios):</a:t>
            </a:r>
            <a:r>
              <a:rPr lang="en-GB"/>
              <a:t> </a:t>
            </a:r>
            <a:r>
              <a:rPr lang="en-GB"/>
              <a:t>e.g. "your decisions fell within the range of expert opinion in X of Y cases".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How often you changed your decision after seeing AI input</a:t>
            </a:r>
            <a:r>
              <a:rPr lang="en-GB"/>
              <a:t>:</a:t>
            </a:r>
            <a:r>
              <a:rPr lang="en-GB"/>
              <a:t> Shown to the participant in neutral language, not "over-reliance,".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Anticipated results (Final report in S2)</a:t>
            </a:r>
            <a:endParaRPr/>
          </a:p>
        </p:txBody>
      </p:sp>
      <p:sp>
        <p:nvSpPr>
          <p:cNvPr id="424" name="Google Shape;424;p36"/>
          <p:cNvSpPr txBox="1"/>
          <p:nvPr>
            <p:ph idx="1" type="body"/>
          </p:nvPr>
        </p:nvSpPr>
        <p:spPr>
          <a:xfrm>
            <a:off x="227025" y="1173650"/>
            <a:ext cx="8520600" cy="3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RO1 (over-reliance): Expecting the dissent-visible condition to show a lower over-reliance ratio than the no-dissent condition based on findings from [9] Tsuchiya et 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RO2 (accuracy vs. ground truth from Human expert): Expecting a modest accuracy improvement under dissent visibility. However</a:t>
            </a:r>
            <a:r>
              <a:rPr lang="en-GB"/>
              <a:t> reducing </a:t>
            </a:r>
            <a:r>
              <a:rPr lang="en-GB"/>
              <a:t>over-reliance may come at the cost of user satisfaction/confidence as per [5] Buçinca, Z et 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RO3 (ambiguous vs. high-consensus scenarios): Expecting the dissent-visibility effect to be stronger on ambiguous/contested cases than high-consensus ones as per [9] Tsuchiya et al and [2] Abubakar et al.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RO4 (trust vs. behavioural reliance): Expecting self-reported trust to drop under dissent visibility, but not perfectly track the drop in behavioural reliance as per [7] Jian, J etal and [4] Bairaktarova et al.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430" name="Google Shape;430;p37"/>
          <p:cNvSpPr txBox="1"/>
          <p:nvPr>
            <p:ph idx="1" type="body"/>
          </p:nvPr>
        </p:nvSpPr>
        <p:spPr>
          <a:xfrm>
            <a:off x="311700" y="1071025"/>
            <a:ext cx="8764500" cy="40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[1] </a:t>
            </a:r>
            <a:r>
              <a:rPr lang="en-GB"/>
              <a:t>Hillis, C., Bhattacharjee, M., AlMousawi, B., Martens, R., Eltanahy, T., Ono, S., Hui, M., Pham, B., Swab, M., Cormack, G. V., Grossman, M. R., Bagheri, E., &amp; Marshall, Z. (2026). AI ethics education: A scoping review of pedagogy, curriculum, and assessment. Information Processing &amp; Management, 63(6), Article 104767.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https://doi.org/10.1016/j.ipm.2026.10476</a:t>
            </a:r>
            <a:r>
              <a:rPr lang="en-GB"/>
              <a:t> 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[2] </a:t>
            </a:r>
            <a:r>
              <a:rPr lang="en-GB"/>
              <a:t>Abubakar, S., Jeilani, A., &amp; Yusuf, M. (2025). The role of over-reliance on AI in the negative consequences of student learning: The moderating effects of ethical concerns and institutional policies. Cogent Education, 12(1), Article 2591503.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https://doi.org/10.1080/2331186X.2025.2591503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[3] Grey, S. (2025). Enhancing ethical reasoning in engineering education through student-created interactive ethical scenarios using generative AI. In 2025 IEEE Global Engineering Education Conference (EDUCON) (pp. 1–5). IEEE.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https://doi.org/10.1109/EDUCON62633.2025.11016531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[4] Bairaktarova, D., &amp; Woodcock, A. (2015). Engineering ethics education: Aligning practice and outcomes. IEEE Communications Magazine, 53(11), 18–22.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https://doi.org/10.1109/MCOM.2015.7321965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[5] Buçinca, Z., Malaya, M. B., &amp; Gajos, K. Z. (2021). To trust or to think: Cognitive forcing functions can reduce overreliance on AI in AI-assisted decision-making. Proceedings of the ACM on Human-Computer Interaction, 5(CSCW1), Article 188.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https://doi.org/10.1145/3449287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/>
          <p:nvPr>
            <p:ph idx="1" type="body"/>
          </p:nvPr>
        </p:nvSpPr>
        <p:spPr>
          <a:xfrm>
            <a:off x="275175" y="270925"/>
            <a:ext cx="8674200" cy="46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[6] </a:t>
            </a:r>
            <a:r>
              <a:rPr lang="en-GB"/>
              <a:t>Schemmer, M., Kühl, N., Benz, C., Bartos, A., &amp; Satzger, G. (2023). Appropriate reliance on AI advice: Conceptualization and the effect of explanations. In Proceedings of the 28th International Conference on Intelligent User Interfaces (IUI '23) (pp. 410–422). ACM.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https://doi.org/10.1145/3581641.3584066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[7] Jian, J.-Y., Bisantz, A. M., &amp; Drury, C. G. (2000). Foundations for an empirically determined scale of trust in automated systems. International Journal of Cognitive Ergonomics, 4(1), 53–71.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https://doi.org/10.1207/S15327566IJCE0401_04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[8] Stransky, J., Bodnar, C., Bassett, L., Cooper, M., Anastasio, D., &amp; Burkey, D. (2023). Engineering process safety research instrument: Assessing students' moral reasoning in process safety contexts. Education for Chemical Engineers, 42, 44–53.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https://doi.org/10.1016/j.ece.2022.11.004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[9] Tsuchiya, Y., &amp; Baba, Y. (2026). More isn't always better: Balancing decision accuracy and conformity pressures in multi-AI advice. In Proceedings of the 2026 CHI Conference on Human Factors in Computing Systems (CHI '26). ACM.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https://doi.org/10.1145/3772318.3791648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[10] Landes, E., Francis, K. B., &amp; Everett, J. A. C. (2026). People defer to AI moral advice, but not blindly. Cognition, 272, Article 106504.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https://doi.org/10.1016/j.cognition.2026.106504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idx="1" type="body"/>
          </p:nvPr>
        </p:nvSpPr>
        <p:spPr>
          <a:xfrm>
            <a:off x="311700" y="385225"/>
            <a:ext cx="8520600" cy="4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[11] </a:t>
            </a:r>
            <a:r>
              <a:rPr lang="en-GB"/>
              <a:t>Klingbeil, A., Grützner, C., &amp; Schreck, P. (2024). Trust and reliance on AI — An experimental study on the extent and costs of </a:t>
            </a:r>
            <a:r>
              <a:rPr lang="en-GB"/>
              <a:t>over reliance</a:t>
            </a:r>
            <a:r>
              <a:rPr lang="en-GB"/>
              <a:t> on AI. Computers in Human Behavior, 160, Article 108352.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https://doi.org/10.1016/j.chb.2024.108352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[12] The consequences of relying on AI for accurate news. (2026, June 9). MIT News | Massachusetts Institute of Technology.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https://news.mit.edu/2026/consequences-of-relying-on-ai-for-accurate-news-0609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0"/>
          <p:cNvSpPr/>
          <p:nvPr/>
        </p:nvSpPr>
        <p:spPr>
          <a:xfrm>
            <a:off x="377200" y="377190"/>
            <a:ext cx="5966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Play"/>
              <a:buNone/>
            </a:pPr>
            <a:r>
              <a:rPr b="1" i="0" lang="en-GB" sz="19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Proposed platform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lang="en-GB" sz="1900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Workflow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40"/>
          <p:cNvCxnSpPr/>
          <p:nvPr/>
        </p:nvCxnSpPr>
        <p:spPr>
          <a:xfrm>
            <a:off x="377200" y="774954"/>
            <a:ext cx="8401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40"/>
          <p:cNvSpPr/>
          <p:nvPr/>
        </p:nvSpPr>
        <p:spPr>
          <a:xfrm>
            <a:off x="308450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FCE7F3"/>
          </a:solidFill>
          <a:ln cap="flat" cmpd="sng" w="16675">
            <a:solidFill>
              <a:srgbClr val="FCE7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464580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0"/>
          <p:cNvSpPr/>
          <p:nvPr/>
        </p:nvSpPr>
        <p:spPr>
          <a:xfrm>
            <a:off x="404530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Scenario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380510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Case + context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40"/>
          <p:cNvCxnSpPr/>
          <p:nvPr/>
        </p:nvCxnSpPr>
        <p:spPr>
          <a:xfrm>
            <a:off x="1833720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40"/>
          <p:cNvSpPr/>
          <p:nvPr/>
        </p:nvSpPr>
        <p:spPr>
          <a:xfrm>
            <a:off x="2073920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EDE9FE"/>
          </a:solidFill>
          <a:ln cap="flat" cmpd="sng" w="16675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2230050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2170000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0"/>
          <p:cNvSpPr/>
          <p:nvPr/>
        </p:nvSpPr>
        <p:spPr>
          <a:xfrm>
            <a:off x="2145980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Decision first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40"/>
          <p:cNvCxnSpPr/>
          <p:nvPr/>
        </p:nvCxnSpPr>
        <p:spPr>
          <a:xfrm>
            <a:off x="3599189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40"/>
          <p:cNvSpPr/>
          <p:nvPr/>
        </p:nvSpPr>
        <p:spPr>
          <a:xfrm>
            <a:off x="3839389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DBEAFE"/>
          </a:solidFill>
          <a:ln cap="flat" cmpd="sng" w="16675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0"/>
          <p:cNvSpPr/>
          <p:nvPr/>
        </p:nvSpPr>
        <p:spPr>
          <a:xfrm>
            <a:off x="3995519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0"/>
          <p:cNvSpPr/>
          <p:nvPr/>
        </p:nvSpPr>
        <p:spPr>
          <a:xfrm>
            <a:off x="3935469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AI advice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0"/>
          <p:cNvSpPr/>
          <p:nvPr/>
        </p:nvSpPr>
        <p:spPr>
          <a:xfrm>
            <a:off x="3911449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Agents agree/disagree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40"/>
          <p:cNvCxnSpPr/>
          <p:nvPr/>
        </p:nvCxnSpPr>
        <p:spPr>
          <a:xfrm>
            <a:off x="5364658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3" name="Google Shape;463;p40"/>
          <p:cNvSpPr/>
          <p:nvPr/>
        </p:nvSpPr>
        <p:spPr>
          <a:xfrm>
            <a:off x="5604858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DCFCE7"/>
          </a:solidFill>
          <a:ln cap="flat" cmpd="sng" w="16675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5760988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0"/>
          <p:cNvSpPr/>
          <p:nvPr/>
        </p:nvSpPr>
        <p:spPr>
          <a:xfrm>
            <a:off x="5700938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Reconsider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0"/>
          <p:cNvSpPr/>
          <p:nvPr/>
        </p:nvSpPr>
        <p:spPr>
          <a:xfrm>
            <a:off x="5676918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Keep or revise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40"/>
          <p:cNvCxnSpPr/>
          <p:nvPr/>
        </p:nvCxnSpPr>
        <p:spPr>
          <a:xfrm>
            <a:off x="7130128" y="2576743"/>
            <a:ext cx="120300" cy="0"/>
          </a:xfrm>
          <a:prstGeom prst="straightConnector1">
            <a:avLst/>
          </a:prstGeom>
          <a:noFill/>
          <a:ln cap="flat" cmpd="sng" w="25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40"/>
          <p:cNvSpPr/>
          <p:nvPr/>
        </p:nvSpPr>
        <p:spPr>
          <a:xfrm>
            <a:off x="7370328" y="1796112"/>
            <a:ext cx="1465200" cy="1561200"/>
          </a:xfrm>
          <a:prstGeom prst="roundRect">
            <a:avLst>
              <a:gd fmla="val 6557" name="adj"/>
            </a:avLst>
          </a:prstGeom>
          <a:solidFill>
            <a:srgbClr val="FEF3C7"/>
          </a:solidFill>
          <a:ln cap="flat" cmpd="sng" w="16675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0075" lIns="120075" spcFirstLastPara="1" rIns="120075" wrap="square" tIns="120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0"/>
          <p:cNvSpPr/>
          <p:nvPr/>
        </p:nvSpPr>
        <p:spPr>
          <a:xfrm>
            <a:off x="7526458" y="1940229"/>
            <a:ext cx="3606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0D3F"/>
              </a:buClr>
              <a:buSzPts val="1401"/>
              <a:buFont typeface="Arial"/>
              <a:buNone/>
            </a:pPr>
            <a:r>
              <a:rPr b="1" i="0" lang="en-GB" sz="1401" u="none" cap="none" strike="noStrike">
                <a:solidFill>
                  <a:srgbClr val="9C0D3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7466408" y="2336549"/>
            <a:ext cx="12732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51"/>
              <a:buFont typeface="Arial"/>
              <a:buNone/>
            </a:pPr>
            <a:r>
              <a:rPr b="1" i="0" lang="en-GB" sz="1751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751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0"/>
          <p:cNvSpPr/>
          <p:nvPr/>
        </p:nvSpPr>
        <p:spPr>
          <a:xfrm>
            <a:off x="7442388" y="2780908"/>
            <a:ext cx="13212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5" lIns="675" spcFirstLastPara="1" rIns="675" wrap="square" tIns="6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26"/>
              <a:buFont typeface="Arial"/>
              <a:buNone/>
            </a:pPr>
            <a:r>
              <a:rPr b="0" i="0" lang="en-GB" sz="1226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Trust + reasoning</a:t>
            </a:r>
            <a:endParaRPr b="0" i="0" sz="1226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