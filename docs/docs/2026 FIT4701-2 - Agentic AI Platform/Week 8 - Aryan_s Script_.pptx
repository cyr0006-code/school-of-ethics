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409c29d647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09c29d647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b375f44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b375f44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a437e31a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a437e31a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a437e31a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a437e31a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409f5e9e4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409f5e9e4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a437e31a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a437e31a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90650" y="1127550"/>
            <a:ext cx="8162700" cy="2888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122"/>
              <a:t>FIT4701/2 - Agentic AI Platform</a:t>
            </a:r>
            <a:endParaRPr sz="3122"/>
          </a:p>
          <a:p>
            <a:pPr indent="0" lvl="0" marL="0" rtl="0" algn="ctr">
              <a:spcBef>
                <a:spcPts val="0"/>
              </a:spcBef>
              <a:spcAft>
                <a:spcPts val="0"/>
              </a:spcAft>
              <a:buNone/>
            </a:pPr>
            <a:r>
              <a:t/>
            </a:r>
            <a:endParaRPr/>
          </a:p>
          <a:p>
            <a:pPr indent="0" lvl="0" marL="0" rtl="0" algn="ctr">
              <a:lnSpc>
                <a:spcPct val="115000"/>
              </a:lnSpc>
              <a:spcBef>
                <a:spcPts val="0"/>
              </a:spcBef>
              <a:spcAft>
                <a:spcPts val="0"/>
              </a:spcAft>
              <a:buNone/>
            </a:pPr>
            <a:r>
              <a:rPr lang="en-GB" sz="1800">
                <a:solidFill>
                  <a:schemeClr val="dk2"/>
                </a:solidFill>
              </a:rPr>
              <a:t>A Case for an </a:t>
            </a:r>
            <a:r>
              <a:rPr lang="en-GB" sz="1800">
                <a:solidFill>
                  <a:schemeClr val="dk2"/>
                </a:solidFill>
              </a:rPr>
              <a:t>Agentic AI Platform for Engineering Ethics Education</a:t>
            </a:r>
            <a:endParaRPr sz="1800">
              <a:solidFill>
                <a:schemeClr val="dk2"/>
              </a:solidFill>
            </a:endParaRPr>
          </a:p>
          <a:p>
            <a:pPr indent="0" lvl="0" marL="0" rtl="0" algn="ctr">
              <a:spcBef>
                <a:spcPts val="1200"/>
              </a:spcBef>
              <a:spcAft>
                <a:spcPts val="0"/>
              </a:spcAft>
              <a:buNone/>
            </a:pPr>
            <a:r>
              <a:t/>
            </a:r>
            <a:endParaRPr/>
          </a:p>
        </p:txBody>
      </p:sp>
      <p:sp>
        <p:nvSpPr>
          <p:cNvPr id="55" name="Google Shape;55;p13"/>
          <p:cNvSpPr txBox="1"/>
          <p:nvPr>
            <p:ph idx="1" type="subTitle"/>
          </p:nvPr>
        </p:nvSpPr>
        <p:spPr>
          <a:xfrm>
            <a:off x="2608800" y="4113525"/>
            <a:ext cx="3926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1200"/>
              <a:t>By Aryan Cyrus &amp; Ubaid Irfan </a:t>
            </a:r>
            <a:endParaRPr sz="1200"/>
          </a:p>
          <a:p>
            <a:pPr indent="0" lvl="0" marL="0" rtl="0" algn="ctr">
              <a:spcBef>
                <a:spcPts val="0"/>
              </a:spcBef>
              <a:spcAft>
                <a:spcPts val="0"/>
              </a:spcAft>
              <a:buNone/>
            </a:pPr>
            <a:r>
              <a:rPr lang="en-GB" sz="1200"/>
              <a:t>In association with ABM Russel</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Background &amp; Problem</a:t>
            </a:r>
            <a:endParaRPr/>
          </a:p>
        </p:txBody>
      </p:sp>
      <p:sp>
        <p:nvSpPr>
          <p:cNvPr id="61" name="Google Shape;61;p14"/>
          <p:cNvSpPr txBox="1"/>
          <p:nvPr>
            <p:ph idx="1" type="body"/>
          </p:nvPr>
        </p:nvSpPr>
        <p:spPr>
          <a:xfrm>
            <a:off x="311700" y="1526225"/>
            <a:ext cx="8387700" cy="3358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Engineering practitioners and student are </a:t>
            </a:r>
            <a:r>
              <a:rPr lang="en-GB"/>
              <a:t>increasingly</a:t>
            </a:r>
            <a:r>
              <a:rPr lang="en-GB"/>
              <a:t> using AI to support technical and ethical decisions</a:t>
            </a:r>
            <a:endParaRPr/>
          </a:p>
          <a:p>
            <a:pPr indent="-342900" lvl="0" marL="457200" rtl="0" algn="l">
              <a:spcBef>
                <a:spcPts val="0"/>
              </a:spcBef>
              <a:spcAft>
                <a:spcPts val="0"/>
              </a:spcAft>
              <a:buSzPts val="1800"/>
              <a:buChar char="-"/>
            </a:pPr>
            <a:r>
              <a:rPr lang="en-GB"/>
              <a:t>Engineer </a:t>
            </a:r>
            <a:r>
              <a:rPr lang="en-GB"/>
              <a:t>can have</a:t>
            </a:r>
            <a:r>
              <a:rPr lang="en-GB"/>
              <a:t> SEVERAL AI systems advising them, which adds further complexity; as often times these systems can improve decision making accuracy, while introducing risks. </a:t>
            </a:r>
            <a:endParaRPr/>
          </a:p>
          <a:p>
            <a:pPr indent="-342900" lvl="0" marL="457200" rtl="0" algn="l">
              <a:spcBef>
                <a:spcPts val="0"/>
              </a:spcBef>
              <a:spcAft>
                <a:spcPts val="0"/>
              </a:spcAft>
              <a:buSzPts val="1800"/>
              <a:buChar char="-"/>
            </a:pPr>
            <a:r>
              <a:rPr lang="en-GB"/>
              <a:t>AI can hallucinate, show bias or be confidently wrong. It can do this in a compelling way making it hard to distinguish good advice from bad under the pressure of time, risk, or responsibility.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0" y="0"/>
            <a:ext cx="8520600" cy="38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2320"/>
              <a:t>Literature Review - gaps and silences </a:t>
            </a:r>
            <a:endParaRPr sz="2320"/>
          </a:p>
          <a:p>
            <a:pPr indent="0" lvl="0" marL="0" rtl="0" algn="l">
              <a:spcBef>
                <a:spcPts val="0"/>
              </a:spcBef>
              <a:spcAft>
                <a:spcPts val="0"/>
              </a:spcAft>
              <a:buSzPts val="990"/>
              <a:buNone/>
            </a:pPr>
            <a:r>
              <a:t/>
            </a:r>
            <a:endParaRPr sz="2520"/>
          </a:p>
        </p:txBody>
      </p:sp>
      <p:sp>
        <p:nvSpPr>
          <p:cNvPr id="67" name="Google Shape;67;p15"/>
          <p:cNvSpPr txBox="1"/>
          <p:nvPr>
            <p:ph idx="1" type="body"/>
          </p:nvPr>
        </p:nvSpPr>
        <p:spPr>
          <a:xfrm>
            <a:off x="100" y="383700"/>
            <a:ext cx="9144000" cy="4662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100">
                <a:solidFill>
                  <a:schemeClr val="dk1"/>
                </a:solidFill>
              </a:rPr>
              <a:t>We started broad. A recent review looked at how universities teach AI ethics, involving forty-three studies. It found that most teaching focuses on bias, fairness, and privacy. Things like trust, oversight, and governance are </a:t>
            </a:r>
            <a:r>
              <a:rPr lang="en-GB" sz="1100">
                <a:solidFill>
                  <a:schemeClr val="dk1"/>
                </a:solidFill>
              </a:rPr>
              <a:t>scarcely</a:t>
            </a:r>
            <a:r>
              <a:rPr lang="en-GB" sz="1100">
                <a:solidFill>
                  <a:schemeClr val="dk1"/>
                </a:solidFill>
              </a:rPr>
              <a:t> addressed. And almost everything is measured through surveys or self reporting;  not direct observations of what people actually do when AI gives them advice; only what they </a:t>
            </a:r>
            <a:r>
              <a:rPr i="1" lang="en-GB" sz="1100">
                <a:solidFill>
                  <a:schemeClr val="dk1"/>
                </a:solidFill>
              </a:rPr>
              <a:t>claim </a:t>
            </a:r>
            <a:r>
              <a:rPr lang="en-GB" sz="1100">
                <a:solidFill>
                  <a:schemeClr val="dk1"/>
                </a:solidFill>
              </a:rPr>
              <a:t>they'd do.</a:t>
            </a:r>
            <a:endParaRPr sz="1100">
              <a:solidFill>
                <a:srgbClr val="D9D9D9"/>
              </a:solidFill>
            </a:endParaRPr>
          </a:p>
          <a:p>
            <a:pPr indent="0" lvl="0" marL="0" rtl="0" algn="l">
              <a:spcBef>
                <a:spcPts val="1200"/>
              </a:spcBef>
              <a:spcAft>
                <a:spcPts val="0"/>
              </a:spcAft>
              <a:buNone/>
            </a:pPr>
            <a:br>
              <a:rPr b="1" lang="en-GB" sz="1100">
                <a:solidFill>
                  <a:schemeClr val="dk1"/>
                </a:solidFill>
              </a:rPr>
            </a:br>
            <a:r>
              <a:rPr lang="en-GB" sz="1100">
                <a:solidFill>
                  <a:schemeClr val="dk1"/>
                </a:solidFill>
              </a:rPr>
              <a:t>Engineering students report feeling underprepared for ethical decisions, and when </a:t>
            </a:r>
            <a:r>
              <a:rPr lang="en-GB" sz="1100">
                <a:solidFill>
                  <a:schemeClr val="dk1"/>
                </a:solidFill>
              </a:rPr>
              <a:t>presented</a:t>
            </a:r>
            <a:r>
              <a:rPr lang="en-GB" sz="1100">
                <a:solidFill>
                  <a:schemeClr val="dk1"/>
                </a:solidFill>
              </a:rPr>
              <a:t> with AI-mediated </a:t>
            </a:r>
            <a:r>
              <a:rPr lang="en-GB" sz="1100">
                <a:solidFill>
                  <a:schemeClr val="dk1"/>
                </a:solidFill>
              </a:rPr>
              <a:t>scenarios</a:t>
            </a:r>
            <a:r>
              <a:rPr lang="en-GB" sz="1100">
                <a:solidFill>
                  <a:schemeClr val="dk1"/>
                </a:solidFill>
              </a:rPr>
              <a:t>; it deepened their thinking. The case for ethics </a:t>
            </a:r>
            <a:r>
              <a:rPr lang="en-GB" sz="1100">
                <a:solidFill>
                  <a:schemeClr val="dk1"/>
                </a:solidFill>
              </a:rPr>
              <a:t>training</a:t>
            </a:r>
            <a:r>
              <a:rPr lang="en-GB" sz="1100">
                <a:solidFill>
                  <a:schemeClr val="dk1"/>
                </a:solidFill>
              </a:rPr>
              <a:t> platforms which fill this need is thus clear. There exist validated instruments in some domains; for example in one study there is one which evaluates the quality of someone's moral reasoning. But none of that work involved AI giving advice during the decision itself.</a:t>
            </a:r>
            <a:endParaRPr sz="1100">
              <a:solidFill>
                <a:schemeClr val="dk1"/>
              </a:solidFill>
            </a:endParaRPr>
          </a:p>
          <a:p>
            <a:pPr indent="0" lvl="0" marL="0" rtl="0" algn="l">
              <a:spcBef>
                <a:spcPts val="1200"/>
              </a:spcBef>
              <a:spcAft>
                <a:spcPts val="0"/>
              </a:spcAft>
              <a:buNone/>
            </a:pPr>
            <a:br>
              <a:rPr b="1" lang="en-GB" sz="1100">
                <a:solidFill>
                  <a:schemeClr val="dk1"/>
                </a:solidFill>
              </a:rPr>
            </a:br>
            <a:r>
              <a:rPr lang="en-GB" sz="1100">
                <a:solidFill>
                  <a:schemeClr val="dk1"/>
                </a:solidFill>
              </a:rPr>
              <a:t>This bring us to the next question; what happens when AI does give moral advice? One study found people really do shift their moral judgements based on AI input, about as much as they would from another person. And in the closest study to ours: researchers gave people advice from a panel of AI agents instead of one, and found that when the agents all agreed, people over-relied on them more,  but when even one AI disagreed, that alone was enough to break the conformity pressure.</a:t>
            </a:r>
            <a:endParaRPr sz="1100">
              <a:solidFill>
                <a:schemeClr val="dk1"/>
              </a:solidFill>
            </a:endParaRPr>
          </a:p>
          <a:p>
            <a:pPr indent="0" lvl="0" marL="0" rtl="0" algn="l">
              <a:spcBef>
                <a:spcPts val="1200"/>
              </a:spcBef>
              <a:spcAft>
                <a:spcPts val="0"/>
              </a:spcAft>
              <a:buClr>
                <a:schemeClr val="dk1"/>
              </a:buClr>
              <a:buSzPts val="1100"/>
              <a:buFont typeface="Arial"/>
              <a:buNone/>
            </a:pPr>
            <a:br>
              <a:rPr b="1" lang="en-GB" sz="1100">
                <a:solidFill>
                  <a:schemeClr val="dk1"/>
                </a:solidFill>
              </a:rPr>
            </a:br>
            <a:r>
              <a:rPr lang="en-GB" sz="1100">
                <a:solidFill>
                  <a:schemeClr val="dk1"/>
                </a:solidFill>
              </a:rPr>
              <a:t>This study coincides and overlaps with our’s in many </a:t>
            </a:r>
            <a:r>
              <a:rPr lang="en-GB" sz="1100">
                <a:solidFill>
                  <a:schemeClr val="dk1"/>
                </a:solidFill>
              </a:rPr>
              <a:t>respects,</a:t>
            </a:r>
            <a:r>
              <a:rPr lang="en-GB" sz="1100">
                <a:solidFill>
                  <a:schemeClr val="dk1"/>
                </a:solidFill>
              </a:rPr>
              <a:t> but it was tested on simple prediction tasks. It did not subject participants to the constraints of time, risk, responsibility or complexity; constraints which real engineer </a:t>
            </a:r>
            <a:r>
              <a:rPr lang="en-GB" sz="1100">
                <a:solidFill>
                  <a:schemeClr val="dk1"/>
                </a:solidFill>
              </a:rPr>
              <a:t>deal</a:t>
            </a:r>
            <a:r>
              <a:rPr lang="en-GB" sz="1100">
                <a:solidFill>
                  <a:schemeClr val="dk1"/>
                </a:solidFill>
              </a:rPr>
              <a:t> with constantly. Nobody's tested whether making AI disagreement visible actually helps in a real ethics-training setting. So our question is: Does making AI-agent disagreement visible (dissent visibility), as a governance mechanism in a multi-agent AI ethics-training platform, reduce decision makers' over-reliance on AI advice and improve the quality of their ethical decision-making, compared to a no-dissent-visibility condition?</a:t>
            </a:r>
            <a:endParaRPr sz="1100">
              <a:solidFill>
                <a:schemeClr val="dk1"/>
              </a:solidFill>
            </a:endParaRPr>
          </a:p>
          <a:p>
            <a:pPr indent="0" lvl="0" marL="0" rtl="0" algn="l">
              <a:spcBef>
                <a:spcPts val="1200"/>
              </a:spcBef>
              <a:spcAft>
                <a:spcPts val="0"/>
              </a:spcAft>
              <a:buNone/>
            </a:pPr>
            <a:r>
              <a:t/>
            </a:r>
            <a:endParaRPr sz="800"/>
          </a:p>
          <a:p>
            <a:pPr indent="0" lvl="0" marL="0" rtl="0" algn="l">
              <a:spcBef>
                <a:spcPts val="1200"/>
              </a:spcBef>
              <a:spcAft>
                <a:spcPts val="1200"/>
              </a:spcAft>
              <a:buNone/>
            </a:pPr>
            <a:r>
              <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Research question</a:t>
            </a:r>
            <a:endParaRPr/>
          </a:p>
        </p:txBody>
      </p:sp>
      <p:sp>
        <p:nvSpPr>
          <p:cNvPr id="73" name="Google Shape;73;p16"/>
          <p:cNvSpPr txBox="1"/>
          <p:nvPr>
            <p:ph idx="1" type="body"/>
          </p:nvPr>
        </p:nvSpPr>
        <p:spPr>
          <a:xfrm>
            <a:off x="311700" y="2210800"/>
            <a:ext cx="8520600" cy="1594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Does making AI-agent disagreement visible</a:t>
            </a:r>
            <a:r>
              <a:rPr b="1" lang="en-GB"/>
              <a:t> (dissent visibility)</a:t>
            </a:r>
            <a:r>
              <a:rPr lang="en-GB"/>
              <a:t>, as a </a:t>
            </a:r>
            <a:r>
              <a:rPr b="1" lang="en-GB"/>
              <a:t>governance mechanism</a:t>
            </a:r>
            <a:r>
              <a:rPr lang="en-GB"/>
              <a:t> in a </a:t>
            </a:r>
            <a:r>
              <a:rPr b="1" lang="en-GB"/>
              <a:t>multi-agent</a:t>
            </a:r>
            <a:r>
              <a:rPr lang="en-GB"/>
              <a:t> AI ethics-training platform, reduce engineers' </a:t>
            </a:r>
            <a:r>
              <a:rPr b="1" lang="en-GB"/>
              <a:t>over-reliance</a:t>
            </a:r>
            <a:r>
              <a:rPr lang="en-GB"/>
              <a:t> on AI advice and improve the quality of their ethical decision-making, compared to a no-dissent-visibility condition?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Research objectives</a:t>
            </a:r>
            <a:endParaRPr/>
          </a:p>
        </p:txBody>
      </p:sp>
      <p:sp>
        <p:nvSpPr>
          <p:cNvPr id="79" name="Google Shape;79;p17"/>
          <p:cNvSpPr txBox="1"/>
          <p:nvPr>
            <p:ph idx="1" type="body"/>
          </p:nvPr>
        </p:nvSpPr>
        <p:spPr>
          <a:xfrm>
            <a:off x="385775" y="117362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Research objectives:</a:t>
            </a:r>
            <a:endParaRPr/>
          </a:p>
          <a:p>
            <a:pPr indent="0" lvl="0" marL="457200" rtl="0" algn="l">
              <a:spcBef>
                <a:spcPts val="1200"/>
              </a:spcBef>
              <a:spcAft>
                <a:spcPts val="0"/>
              </a:spcAft>
              <a:buNone/>
            </a:pPr>
            <a:r>
              <a:rPr lang="en-GB"/>
              <a:t>RO1: Measure the effect of dissent visibility on engineers' behavioural over-reliance on incorrect AI advice.</a:t>
            </a:r>
            <a:endParaRPr/>
          </a:p>
          <a:p>
            <a:pPr indent="0" lvl="0" marL="457200" rtl="0" algn="l">
              <a:spcBef>
                <a:spcPts val="1200"/>
              </a:spcBef>
              <a:spcAft>
                <a:spcPts val="0"/>
              </a:spcAft>
              <a:buNone/>
            </a:pPr>
            <a:r>
              <a:rPr lang="en-GB"/>
              <a:t>RO2: Evaluate whether dissent visibility improves the accuracy of engineers' final ethical decisions relative to expert-validated ground truth</a:t>
            </a:r>
            <a:endParaRPr/>
          </a:p>
          <a:p>
            <a:pPr indent="0" lvl="0" marL="457200" rtl="0" algn="l">
              <a:spcBef>
                <a:spcPts val="1200"/>
              </a:spcBef>
              <a:spcAft>
                <a:spcPts val="0"/>
              </a:spcAft>
              <a:buNone/>
            </a:pPr>
            <a:r>
              <a:rPr lang="en-GB"/>
              <a:t>RO3: Examine whether the effect of dissent visibility differs between high-consensus and ambiguous/contested ethical scenarios.</a:t>
            </a:r>
            <a:endParaRPr/>
          </a:p>
          <a:p>
            <a:pPr indent="0" lvl="0" marL="457200" rtl="0" algn="l">
              <a:spcBef>
                <a:spcPts val="1200"/>
              </a:spcBef>
              <a:spcAft>
                <a:spcPts val="1200"/>
              </a:spcAft>
              <a:buNone/>
            </a:pPr>
            <a:r>
              <a:rPr lang="en-GB"/>
              <a:t>RO4: Investigate whether dissent visibility affects engineers' self-reported trust in the AI's advice, and whether that trust aligns with their actual behavioural reliance.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Feedback Delivery </a:t>
            </a:r>
            <a:endParaRPr/>
          </a:p>
        </p:txBody>
      </p:sp>
      <p:sp>
        <p:nvSpPr>
          <p:cNvPr id="85" name="Google Shape;85;p18"/>
          <p:cNvSpPr txBox="1"/>
          <p:nvPr/>
        </p:nvSpPr>
        <p:spPr>
          <a:xfrm>
            <a:off x="300750" y="1778000"/>
            <a:ext cx="8542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Alignment with expert consensus (high-consensus scenarios only):</a:t>
            </a:r>
            <a:r>
              <a:rPr lang="en-GB"/>
              <a:t> "X of Y decisions matched the expert-validated answer".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How the ambiguous scenarios went (contested scenarios):</a:t>
            </a:r>
            <a:r>
              <a:rPr lang="en-GB"/>
              <a:t> e.g. "your decisions fell within the range of expert opinion in X of Y cases".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How often you changed your decision after seeing AI input</a:t>
            </a:r>
            <a:r>
              <a:rPr lang="en-GB"/>
              <a:t>: Shown to the participant in neutral language, not "over-reliance,".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Anticipated results</a:t>
            </a:r>
            <a:endParaRPr/>
          </a:p>
        </p:txBody>
      </p:sp>
      <p:sp>
        <p:nvSpPr>
          <p:cNvPr id="91" name="Google Shape;91;p19"/>
          <p:cNvSpPr txBox="1"/>
          <p:nvPr>
            <p:ph idx="1" type="body"/>
          </p:nvPr>
        </p:nvSpPr>
        <p:spPr>
          <a:xfrm>
            <a:off x="227025" y="1173650"/>
            <a:ext cx="8520600" cy="357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RO1 (over-reliance): Expecting the dissent-visible condition to show a lower over-reliance ratio than the no-dissent condition</a:t>
            </a:r>
            <a:endParaRPr/>
          </a:p>
          <a:p>
            <a:pPr indent="0" lvl="0" marL="0" rtl="0" algn="l">
              <a:spcBef>
                <a:spcPts val="1200"/>
              </a:spcBef>
              <a:spcAft>
                <a:spcPts val="0"/>
              </a:spcAft>
              <a:buNone/>
            </a:pPr>
            <a:r>
              <a:rPr lang="en-GB"/>
              <a:t>RO2 (accuracy vs. expert ground truth): Expecting a modest accuracy improvement under dissent visibility. However</a:t>
            </a:r>
            <a:r>
              <a:rPr lang="en-GB"/>
              <a:t> reducing </a:t>
            </a:r>
            <a:r>
              <a:rPr lang="en-GB"/>
              <a:t>over-reliance may come at the cost of user satisfaction/confidence as per our research. </a:t>
            </a:r>
            <a:endParaRPr/>
          </a:p>
          <a:p>
            <a:pPr indent="0" lvl="0" marL="0" rtl="0" algn="l">
              <a:spcBef>
                <a:spcPts val="1200"/>
              </a:spcBef>
              <a:spcAft>
                <a:spcPts val="0"/>
              </a:spcAft>
              <a:buNone/>
            </a:pPr>
            <a:r>
              <a:rPr lang="en-GB"/>
              <a:t>RO3 (ambiguous vs. high-consensus scenarios): Expecting the dissent-visibility effect to be stronger on ambiguous/contested cases than high-consensus ones. </a:t>
            </a:r>
            <a:endParaRPr/>
          </a:p>
          <a:p>
            <a:pPr indent="0" lvl="0" marL="0" rtl="0" algn="l">
              <a:spcBef>
                <a:spcPts val="1200"/>
              </a:spcBef>
              <a:spcAft>
                <a:spcPts val="1200"/>
              </a:spcAft>
              <a:buNone/>
            </a:pPr>
            <a:r>
              <a:rPr lang="en-GB"/>
              <a:t>RO4 (trust vs. behavioural reliance): Expecting self-reported trust to drop under dissent visibility, but not perfectly track the drop in behavioural reliance.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